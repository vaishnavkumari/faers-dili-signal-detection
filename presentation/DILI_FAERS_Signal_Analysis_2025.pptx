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6" d="100"/>
          <a:sy n="126" d="100"/>
        </p:scale>
        <p:origin x="-202"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title>
      <c:tx>
        <c:rich>
          <a:bodyPr/>
          <a:lstStyle/>
          <a:p>
            <a:pPr>
              <a:defRPr sz="1200" b="0" i="0" u="none" strike="noStrike">
                <a:solidFill>
                  <a:srgbClr val="0B2447"/>
                </a:solidFill>
                <a:latin typeface="Arial"/>
              </a:defRPr>
            </a:pPr>
            <a:r>
              <a:rPr lang="en-US" sz="1200" b="0" i="0" u="none" strike="noStrike">
                <a:solidFill>
                  <a:srgbClr val="0B2447"/>
                </a:solidFill>
                <a:latin typeface="Arial"/>
              </a:rPr>
              <a:t>Top Drugs by ROR (Signal Strength)</a:t>
            </a:r>
          </a:p>
        </c:rich>
      </c:tx>
      <c:layout/>
      <c:overlay val="0"/>
    </c:title>
    <c:autoTitleDeleted val="0"/>
    <c:plotArea>
      <c:layout/>
      <c:barChart>
        <c:barDir val="bar"/>
        <c:grouping val="clustered"/>
        <c:varyColors val="0"/>
        <c:ser>
          <c:idx val="0"/>
          <c:order val="0"/>
          <c:tx>
            <c:strRef>
              <c:f>Sheet1!$B$1</c:f>
              <c:strCache>
                <c:ptCount val="1"/>
                <c:pt idx="0">
                  <c:v>ROR</c:v>
                </c:pt>
              </c:strCache>
            </c:strRef>
          </c:tx>
          <c:spPr>
            <a:solidFill>
              <a:srgbClr val="0096C7"/>
            </a:solidFill>
            <a:effectLst/>
          </c:spPr>
          <c:invertIfNegative val="0"/>
          <c:dPt>
            <c:idx val="0"/>
            <c:invertIfNegative val="0"/>
            <c:bubble3D val="0"/>
          </c:dPt>
          <c:dPt>
            <c:idx val="1"/>
            <c:invertIfNegative val="0"/>
            <c:bubble3D val="0"/>
            <c:spPr>
              <a:solidFill>
                <a:srgbClr val="0076A8"/>
              </a:solidFill>
              <a:effectLst/>
            </c:spPr>
          </c:dPt>
          <c:dPt>
            <c:idx val="2"/>
            <c:invertIfNegative val="0"/>
            <c:bubble3D val="0"/>
            <c:spPr>
              <a:solidFill>
                <a:srgbClr val="19376D"/>
              </a:solidFill>
              <a:effectLst/>
            </c:spPr>
          </c:dPt>
          <c:dPt>
            <c:idx val="3"/>
            <c:invertIfNegative val="0"/>
            <c:bubble3D val="0"/>
          </c:dPt>
          <c:dPt>
            <c:idx val="4"/>
            <c:invertIfNegative val="0"/>
            <c:bubble3D val="0"/>
            <c:spPr>
              <a:solidFill>
                <a:srgbClr val="0076A8"/>
              </a:solidFill>
              <a:effectLst/>
            </c:spPr>
          </c:dPt>
          <c:dPt>
            <c:idx val="5"/>
            <c:invertIfNegative val="0"/>
            <c:bubble3D val="0"/>
            <c:spPr>
              <a:solidFill>
                <a:srgbClr val="19376D"/>
              </a:solidFill>
              <a:effectLst/>
            </c:spPr>
          </c:dPt>
          <c:dPt>
            <c:idx val="6"/>
            <c:invertIfNegative val="0"/>
            <c:bubble3D val="0"/>
          </c:dPt>
          <c:dLbls>
            <c:numFmt formatCode="#,##0" sourceLinked="0"/>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dLbls>
          <c:cat>
            <c:strRef>
              <c:f>Sheet1!$A$2:$A$8</c:f>
              <c:strCache>
                <c:ptCount val="7"/>
                <c:pt idx="0">
                  <c:v>POTASSIUM CHLORIDE</c:v>
                </c:pt>
                <c:pt idx="1">
                  <c:v>ARTHROTEC</c:v>
                </c:pt>
                <c:pt idx="2">
                  <c:v>MEPERIDINE HCL</c:v>
                </c:pt>
                <c:pt idx="3">
                  <c:v>FENOTEROL/IPRATROPIUM</c:v>
                </c:pt>
                <c:pt idx="4">
                  <c:v>CORTISONE</c:v>
                </c:pt>
                <c:pt idx="5">
                  <c:v>CETIRIZINE</c:v>
                </c:pt>
                <c:pt idx="6">
                  <c:v>MEGLUMINE</c:v>
                </c:pt>
              </c:strCache>
            </c:strRef>
          </c:cat>
          <c:val>
            <c:numRef>
              <c:f>Sheet1!$B$2:$B$8</c:f>
              <c:numCache>
                <c:formatCode>General</c:formatCode>
                <c:ptCount val="7"/>
                <c:pt idx="0">
                  <c:v>46</c:v>
                </c:pt>
                <c:pt idx="1">
                  <c:v>29</c:v>
                </c:pt>
                <c:pt idx="2">
                  <c:v>23</c:v>
                </c:pt>
                <c:pt idx="3">
                  <c:v>21</c:v>
                </c:pt>
                <c:pt idx="4">
                  <c:v>17</c:v>
                </c:pt>
                <c:pt idx="5">
                  <c:v>16</c:v>
                </c:pt>
                <c:pt idx="6">
                  <c:v>14</c:v>
                </c:pt>
              </c:numCache>
            </c:numRef>
          </c:val>
        </c:ser>
        <c:dLbls>
          <c:showLegendKey val="0"/>
          <c:showVal val="1"/>
          <c:showCatName val="0"/>
          <c:showSerName val="0"/>
          <c:showPercent val="0"/>
          <c:showBubbleSize val="0"/>
        </c:dLbls>
        <c:gapWidth val="150"/>
        <c:axId val="141213696"/>
        <c:axId val="141215232"/>
      </c:barChart>
      <c:catAx>
        <c:axId val="141213696"/>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141215232"/>
        <c:crosses val="autoZero"/>
        <c:auto val="1"/>
        <c:lblAlgn val="ctr"/>
        <c:lblOffset val="100"/>
        <c:noMultiLvlLbl val="1"/>
      </c:catAx>
      <c:valAx>
        <c:axId val="14121523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141213696"/>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200" b="0" i="0" u="none" strike="noStrike">
                <a:solidFill>
                  <a:srgbClr val="0B2447"/>
                </a:solidFill>
                <a:latin typeface="Arial"/>
              </a:defRPr>
            </a:pPr>
            <a:r>
              <a:rPr lang="en-US" sz="1200" b="0" i="0" u="none" strike="noStrike">
                <a:solidFill>
                  <a:srgbClr val="0B2447"/>
                </a:solidFill>
                <a:latin typeface="Arial"/>
              </a:rPr>
              <a:t>Gender Distribution of DILI Cases</a:t>
            </a:r>
          </a:p>
        </c:rich>
      </c:tx>
      <c:layout/>
      <c:overlay val="0"/>
    </c:title>
    <c:autoTitleDeleted val="0"/>
    <c:plotArea>
      <c:layout/>
      <c:pie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E63946"/>
              </a:solidFill>
              <a:effectLst/>
            </c:spPr>
          </c:dPt>
          <c:dPt>
            <c:idx val="1"/>
            <c:bubble3D val="0"/>
            <c:spPr>
              <a:solidFill>
                <a:srgbClr val="0096C7"/>
              </a:solidFill>
              <a:effectLst/>
            </c:spPr>
          </c:dPt>
          <c:dPt>
            <c:idx val="2"/>
            <c:bubble3D val="0"/>
            <c:spPr>
              <a:solidFill>
                <a:srgbClr val="94A3B8"/>
              </a:solidFill>
              <a:effectLst/>
            </c:spPr>
          </c:dPt>
          <c:dLbls>
            <c:dLbl>
              <c:idx val="0"/>
              <c:layout/>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dLbl>
            <c:dLbl>
              <c:idx val="1"/>
              <c:layout/>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dLbl>
            <c:dLbl>
              <c:idx val="2"/>
              <c:layout/>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dLbls>
          <c:cat>
            <c:strRef>
              <c:f>Sheet1!$A$2:$A$4</c:f>
              <c:strCache>
                <c:ptCount val="3"/>
                <c:pt idx="0">
                  <c:v>Female</c:v>
                </c:pt>
                <c:pt idx="1">
                  <c:v>Male</c:v>
                </c:pt>
                <c:pt idx="2">
                  <c:v>Unknown</c:v>
                </c:pt>
              </c:strCache>
            </c:strRef>
          </c:cat>
          <c:val>
            <c:numRef>
              <c:f>Sheet1!$B$2:$B$4</c:f>
              <c:numCache>
                <c:formatCode>General</c:formatCode>
                <c:ptCount val="3"/>
                <c:pt idx="0">
                  <c:v>50.8</c:v>
                </c:pt>
                <c:pt idx="1">
                  <c:v>30.5</c:v>
                </c:pt>
                <c:pt idx="2">
                  <c:v>18.7</c:v>
                </c:pt>
              </c:numCache>
            </c:numRef>
          </c:val>
        </c:ser>
        <c:dLbls>
          <c:showLegendKey val="0"/>
          <c:showVal val="0"/>
          <c:showCatName val="0"/>
          <c:showSerName val="0"/>
          <c:showPercent val="0"/>
          <c:showBubbleSize val="0"/>
          <c:showLeaderLines val="0"/>
        </c:dLbls>
        <c:firstSliceAng val="0"/>
      </c:pieChart>
      <c:spPr>
        <a:noFill/>
        <a:ln>
          <a:noFill/>
        </a:ln>
        <a:effectLst/>
      </c:spPr>
    </c:plotArea>
    <c:legend>
      <c:legendPos val="b"/>
      <c:layout/>
      <c:overlay val="0"/>
      <c:txPr>
        <a:bodyPr/>
        <a:lstStyle/>
        <a:p>
          <a:pPr>
            <a:defRPr sz="1000"/>
          </a:pPr>
          <a:endParaRPr lang="en-US"/>
        </a:p>
      </c:txPr>
    </c:legend>
    <c:plotVisOnly val="1"/>
    <c:dispBlanksAs val="span"/>
    <c:showDLblsOverMax val="1"/>
  </c:chart>
  <c:spPr>
    <a:solidFill>
      <a:srgbClr val="F8FAF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0B2447"/>
                </a:solidFill>
                <a:latin typeface="Arial"/>
              </a:defRPr>
            </a:pPr>
            <a:r>
              <a:rPr lang="en-US" sz="1300" b="0" i="0" u="none" strike="noStrike">
                <a:solidFill>
                  <a:srgbClr val="0B2447"/>
                </a:solidFill>
                <a:latin typeface="Arial"/>
              </a:rPr>
              <a:t>Age-wise Distribution of DILI Cases</a:t>
            </a:r>
          </a:p>
        </c:rich>
      </c:tx>
      <c:layout/>
      <c:overlay val="0"/>
    </c:title>
    <c:autoTitleDeleted val="0"/>
    <c:plotArea>
      <c:layout/>
      <c:barChart>
        <c:barDir val="col"/>
        <c:grouping val="clustered"/>
        <c:varyColors val="0"/>
        <c:ser>
          <c:idx val="0"/>
          <c:order val="0"/>
          <c:tx>
            <c:strRef>
              <c:f>Sheet1!$B$1</c:f>
              <c:strCache>
                <c:ptCount val="1"/>
                <c:pt idx="0">
                  <c:v>DILI Cases (×100K)</c:v>
                </c:pt>
              </c:strCache>
            </c:strRef>
          </c:tx>
          <c:spPr>
            <a:solidFill>
              <a:srgbClr val="0096C7"/>
            </a:solidFill>
            <a:effectLst/>
          </c:spPr>
          <c:invertIfNegative val="0"/>
          <c:dPt>
            <c:idx val="0"/>
            <c:invertIfNegative val="0"/>
            <c:bubble3D val="0"/>
          </c:dPt>
          <c:dPt>
            <c:idx val="1"/>
            <c:invertIfNegative val="0"/>
            <c:bubble3D val="0"/>
            <c:spPr>
              <a:solidFill>
                <a:srgbClr val="19376D"/>
              </a:solidFill>
              <a:effectLst/>
            </c:spPr>
          </c:dPt>
          <c:dPt>
            <c:idx val="2"/>
            <c:invertIfNegative val="0"/>
            <c:bubble3D val="0"/>
            <c:spPr>
              <a:solidFill>
                <a:srgbClr val="0B2447"/>
              </a:solidFill>
              <a:effectLst/>
            </c:spPr>
          </c:dPt>
          <c:dPt>
            <c:idx val="3"/>
            <c:invertIfNegative val="0"/>
            <c:bubble3D val="0"/>
            <c:spPr>
              <a:solidFill>
                <a:srgbClr val="B0C4DE"/>
              </a:solidFill>
              <a:effectLst/>
            </c:spPr>
          </c:dPt>
          <c:dLbls>
            <c:numFmt formatCode="#,##0" sourceLinked="0"/>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dLbls>
          <c:cat>
            <c:strRef>
              <c:f>Sheet1!$A$2:$A$5</c:f>
              <c:strCache>
                <c:ptCount val="4"/>
                <c:pt idx="0">
                  <c:v>41–65</c:v>
                </c:pt>
                <c:pt idx="1">
                  <c:v>65+</c:v>
                </c:pt>
                <c:pt idx="2">
                  <c:v>19–40</c:v>
                </c:pt>
                <c:pt idx="3">
                  <c:v>0–18</c:v>
                </c:pt>
              </c:strCache>
            </c:strRef>
          </c:cat>
          <c:val>
            <c:numRef>
              <c:f>Sheet1!$B$2:$B$5</c:f>
              <c:numCache>
                <c:formatCode>General</c:formatCode>
                <c:ptCount val="4"/>
                <c:pt idx="0">
                  <c:v>200</c:v>
                </c:pt>
                <c:pt idx="1">
                  <c:v>130</c:v>
                </c:pt>
                <c:pt idx="2">
                  <c:v>70</c:v>
                </c:pt>
                <c:pt idx="3">
                  <c:v>20</c:v>
                </c:pt>
              </c:numCache>
            </c:numRef>
          </c:val>
        </c:ser>
        <c:dLbls>
          <c:showLegendKey val="0"/>
          <c:showVal val="1"/>
          <c:showCatName val="0"/>
          <c:showSerName val="0"/>
          <c:showPercent val="0"/>
          <c:showBubbleSize val="0"/>
        </c:dLbls>
        <c:gapWidth val="150"/>
        <c:axId val="141342976"/>
        <c:axId val="141348864"/>
      </c:barChart>
      <c:catAx>
        <c:axId val="14134297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141348864"/>
        <c:crosses val="autoZero"/>
        <c:auto val="1"/>
        <c:lblAlgn val="ctr"/>
        <c:lblOffset val="100"/>
        <c:noMultiLvlLbl val="1"/>
      </c:catAx>
      <c:valAx>
        <c:axId val="141348864"/>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141342976"/>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7824ED1B-4059-44B6-B00F-FC5AF671A5FB}" type="datetimeFigureOut">
              <a:rPr lang="en-US" smtClean="0"/>
              <a:t>4/21/2026</a:t>
            </a:fld>
            <a:endParaRPr lang="en-US"/>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B990285D-FD27-4F56-8393-9C68B4C728EE}" type="slidenum">
              <a:rPr lang="en-US" smtClean="0"/>
              <a:t>‹#›</a:t>
            </a:fld>
            <a:endParaRPr lang="en-US"/>
          </a:p>
        </p:txBody>
      </p:sp>
    </p:spTree>
    <p:extLst>
      <p:ext uri="{BB962C8B-B14F-4D97-AF65-F5344CB8AC3E}">
        <p14:creationId xmlns:p14="http://schemas.microsoft.com/office/powerpoint/2010/main" val="3504538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447"/>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96C7"/>
          </a:solidFill>
          <a:ln w="12700">
            <a:solidFill>
              <a:srgbClr val="0096C7"/>
            </a:solidFill>
            <a:prstDash val="solid"/>
          </a:ln>
        </p:spPr>
      </p:sp>
      <p:sp>
        <p:nvSpPr>
          <p:cNvPr id="3" name="Shape 1"/>
          <p:cNvSpPr/>
          <p:nvPr/>
        </p:nvSpPr>
        <p:spPr>
          <a:xfrm>
            <a:off x="0" y="0"/>
            <a:ext cx="9144000" cy="73152"/>
          </a:xfrm>
          <a:prstGeom prst="rect">
            <a:avLst/>
          </a:prstGeom>
          <a:solidFill>
            <a:srgbClr val="0096C7"/>
          </a:solidFill>
          <a:ln w="12700">
            <a:solidFill>
              <a:srgbClr val="0096C7"/>
            </a:solidFill>
            <a:prstDash val="solid"/>
          </a:ln>
        </p:spPr>
      </p:sp>
      <p:sp>
        <p:nvSpPr>
          <p:cNvPr id="4" name="Text 2"/>
          <p:cNvSpPr/>
          <p:nvPr/>
        </p:nvSpPr>
        <p:spPr>
          <a:xfrm>
            <a:off x="365760" y="201168"/>
            <a:ext cx="8229600" cy="502920"/>
          </a:xfrm>
          <a:prstGeom prst="rect">
            <a:avLst/>
          </a:prstGeom>
          <a:noFill/>
          <a:ln/>
        </p:spPr>
        <p:txBody>
          <a:bodyPr wrap="square" rtlCol="0" anchor="ctr"/>
          <a:lstStyle/>
          <a:p>
            <a:pPr marL="0" indent="0" algn="l">
              <a:buNone/>
            </a:pPr>
            <a:r>
              <a:rPr lang="en-US" sz="2200" dirty="0">
                <a:solidFill>
                  <a:srgbClr val="0096C7"/>
                </a:solidFill>
                <a:latin typeface="Trebuchet MS" pitchFamily="34" charset="0"/>
                <a:ea typeface="Trebuchet MS" pitchFamily="34" charset="-122"/>
                <a:cs typeface="Trebuchet MS" pitchFamily="34" charset="-120"/>
              </a:rPr>
              <a:t>Detection and Analysis of</a:t>
            </a:r>
            <a:endParaRPr lang="en-US" sz="2200" dirty="0"/>
          </a:p>
        </p:txBody>
      </p:sp>
      <p:sp>
        <p:nvSpPr>
          <p:cNvPr id="5" name="Text 3"/>
          <p:cNvSpPr/>
          <p:nvPr/>
        </p:nvSpPr>
        <p:spPr>
          <a:xfrm>
            <a:off x="365760" y="685800"/>
            <a:ext cx="8412480" cy="658368"/>
          </a:xfrm>
          <a:prstGeom prst="rect">
            <a:avLst/>
          </a:prstGeom>
          <a:noFill/>
          <a:ln/>
        </p:spPr>
        <p:txBody>
          <a:bodyPr wrap="square"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Drug-Induced Liver Injury (DILI)</a:t>
            </a:r>
            <a:endParaRPr lang="en-US" sz="3400" dirty="0"/>
          </a:p>
        </p:txBody>
      </p:sp>
      <p:sp>
        <p:nvSpPr>
          <p:cNvPr id="6" name="Text 4"/>
          <p:cNvSpPr/>
          <p:nvPr/>
        </p:nvSpPr>
        <p:spPr>
          <a:xfrm>
            <a:off x="365760" y="1325880"/>
            <a:ext cx="8229600" cy="548640"/>
          </a:xfrm>
          <a:prstGeom prst="rect">
            <a:avLst/>
          </a:prstGeom>
          <a:noFill/>
          <a:ln/>
        </p:spPr>
        <p:txBody>
          <a:bodyPr wrap="square" rtlCol="0" anchor="ctr"/>
          <a:lstStyle/>
          <a:p>
            <a:pPr marL="0" indent="0" algn="l">
              <a:buNone/>
            </a:pPr>
            <a:r>
              <a:rPr lang="en-US" sz="2400" dirty="0">
                <a:solidFill>
                  <a:srgbClr val="FFFFFF"/>
                </a:solidFill>
                <a:latin typeface="Trebuchet MS" pitchFamily="34" charset="0"/>
                <a:ea typeface="Trebuchet MS" pitchFamily="34" charset="-122"/>
                <a:cs typeface="Trebuchet MS" pitchFamily="34" charset="-120"/>
              </a:rPr>
              <a:t>Safety Signals using FAERS Data</a:t>
            </a:r>
            <a:endParaRPr lang="en-US" sz="2400" dirty="0"/>
          </a:p>
        </p:txBody>
      </p:sp>
      <p:sp>
        <p:nvSpPr>
          <p:cNvPr id="7" name="Shape 5"/>
          <p:cNvSpPr/>
          <p:nvPr/>
        </p:nvSpPr>
        <p:spPr>
          <a:xfrm>
            <a:off x="365760" y="2542032"/>
            <a:ext cx="4572000" cy="36576"/>
          </a:xfrm>
          <a:prstGeom prst="rect">
            <a:avLst/>
          </a:prstGeom>
          <a:solidFill>
            <a:srgbClr val="F4A261"/>
          </a:solidFill>
          <a:ln w="12700">
            <a:solidFill>
              <a:srgbClr val="F4A261"/>
            </a:solidFill>
            <a:prstDash val="solid"/>
          </a:ln>
        </p:spPr>
      </p:sp>
      <p:sp>
        <p:nvSpPr>
          <p:cNvPr id="8" name="Text 6"/>
          <p:cNvSpPr/>
          <p:nvPr/>
        </p:nvSpPr>
        <p:spPr>
          <a:xfrm>
            <a:off x="365760" y="2697480"/>
            <a:ext cx="8229600" cy="411480"/>
          </a:xfrm>
          <a:prstGeom prst="rect">
            <a:avLst/>
          </a:prstGeom>
          <a:noFill/>
          <a:ln/>
        </p:spPr>
        <p:txBody>
          <a:bodyPr wrap="square" rtlCol="0" anchor="ctr"/>
          <a:lstStyle/>
          <a:p>
            <a:pPr marL="0" indent="0" algn="l">
              <a:buNone/>
            </a:pPr>
            <a:r>
              <a:rPr lang="en-US" sz="1400" dirty="0">
                <a:solidFill>
                  <a:srgbClr val="B0C4DE"/>
                </a:solidFill>
                <a:latin typeface="Calibri" pitchFamily="34" charset="0"/>
                <a:ea typeface="Calibri" pitchFamily="34" charset="-122"/>
                <a:cs typeface="Calibri" pitchFamily="34" charset="-120"/>
              </a:rPr>
              <a:t>FAERS Pharmacovigilance Signal Analysis  ·  2025 Q1–Q4 Cumulative</a:t>
            </a:r>
            <a:endParaRPr lang="en-US" sz="1400" dirty="0"/>
          </a:p>
        </p:txBody>
      </p:sp>
      <p:sp>
        <p:nvSpPr>
          <p:cNvPr id="9" name="Shape 7"/>
          <p:cNvSpPr/>
          <p:nvPr/>
        </p:nvSpPr>
        <p:spPr>
          <a:xfrm>
            <a:off x="365760" y="3291840"/>
            <a:ext cx="1920240" cy="1371600"/>
          </a:xfrm>
          <a:prstGeom prst="rect">
            <a:avLst/>
          </a:prstGeom>
          <a:solidFill>
            <a:srgbClr val="19376D"/>
          </a:solidFill>
          <a:ln w="19050">
            <a:solidFill>
              <a:srgbClr val="0096C7"/>
            </a:solidFill>
            <a:prstDash val="solid"/>
          </a:ln>
          <a:effectLst>
            <a:outerShdw blurRad="76200" dist="38100" dir="8100000" algn="bl" rotWithShape="0">
              <a:srgbClr val="000000">
                <a:alpha val="30000"/>
              </a:srgbClr>
            </a:outerShdw>
          </a:effectLst>
        </p:spPr>
      </p:sp>
      <p:sp>
        <p:nvSpPr>
          <p:cNvPr id="10" name="Text 8"/>
          <p:cNvSpPr/>
          <p:nvPr/>
        </p:nvSpPr>
        <p:spPr>
          <a:xfrm>
            <a:off x="365760" y="3383280"/>
            <a:ext cx="1920240" cy="685800"/>
          </a:xfrm>
          <a:prstGeom prst="rect">
            <a:avLst/>
          </a:prstGeom>
          <a:noFill/>
          <a:ln/>
        </p:spPr>
        <p:txBody>
          <a:bodyPr wrap="square" rtlCol="0" anchor="ctr"/>
          <a:lstStyle/>
          <a:p>
            <a:pPr marL="0" indent="0" algn="ctr">
              <a:buNone/>
            </a:pPr>
            <a:r>
              <a:rPr lang="en-US" sz="3000" b="1" dirty="0">
                <a:solidFill>
                  <a:srgbClr val="F4A261"/>
                </a:solidFill>
                <a:latin typeface="Trebuchet MS" pitchFamily="34" charset="0"/>
                <a:ea typeface="Trebuchet MS" pitchFamily="34" charset="-122"/>
                <a:cs typeface="Trebuchet MS" pitchFamily="34" charset="-120"/>
              </a:rPr>
              <a:t>28K</a:t>
            </a:r>
            <a:endParaRPr lang="en-US" sz="3000" dirty="0"/>
          </a:p>
        </p:txBody>
      </p:sp>
      <p:sp>
        <p:nvSpPr>
          <p:cNvPr id="11" name="Text 9"/>
          <p:cNvSpPr/>
          <p:nvPr/>
        </p:nvSpPr>
        <p:spPr>
          <a:xfrm>
            <a:off x="365760" y="4069080"/>
            <a:ext cx="1920240" cy="41148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Total DILI Cases</a:t>
            </a:r>
            <a:endParaRPr lang="en-US" sz="1100" dirty="0"/>
          </a:p>
        </p:txBody>
      </p:sp>
      <p:sp>
        <p:nvSpPr>
          <p:cNvPr id="12" name="Shape 10"/>
          <p:cNvSpPr/>
          <p:nvPr/>
        </p:nvSpPr>
        <p:spPr>
          <a:xfrm>
            <a:off x="2514600" y="3291840"/>
            <a:ext cx="1920240" cy="1371600"/>
          </a:xfrm>
          <a:prstGeom prst="rect">
            <a:avLst/>
          </a:prstGeom>
          <a:solidFill>
            <a:srgbClr val="19376D"/>
          </a:solidFill>
          <a:ln w="19050">
            <a:solidFill>
              <a:srgbClr val="0096C7"/>
            </a:solidFill>
            <a:prstDash val="solid"/>
          </a:ln>
          <a:effectLst>
            <a:outerShdw blurRad="76200" dist="38100" dir="8100000" algn="bl" rotWithShape="0">
              <a:srgbClr val="000000">
                <a:alpha val="30000"/>
              </a:srgbClr>
            </a:outerShdw>
          </a:effectLst>
        </p:spPr>
      </p:sp>
      <p:sp>
        <p:nvSpPr>
          <p:cNvPr id="13" name="Text 11"/>
          <p:cNvSpPr/>
          <p:nvPr/>
        </p:nvSpPr>
        <p:spPr>
          <a:xfrm>
            <a:off x="2514600" y="3383280"/>
            <a:ext cx="1920240" cy="685800"/>
          </a:xfrm>
          <a:prstGeom prst="rect">
            <a:avLst/>
          </a:prstGeom>
          <a:noFill/>
          <a:ln/>
        </p:spPr>
        <p:txBody>
          <a:bodyPr wrap="square" rtlCol="0" anchor="ctr"/>
          <a:lstStyle/>
          <a:p>
            <a:pPr marL="0" indent="0" algn="ctr">
              <a:buNone/>
            </a:pPr>
            <a:r>
              <a:rPr lang="en-US" sz="3000" b="1" dirty="0">
                <a:solidFill>
                  <a:srgbClr val="F4A261"/>
                </a:solidFill>
                <a:latin typeface="Trebuchet MS" pitchFamily="34" charset="0"/>
                <a:ea typeface="Trebuchet MS" pitchFamily="34" charset="-122"/>
                <a:cs typeface="Trebuchet MS" pitchFamily="34" charset="-120"/>
              </a:rPr>
              <a:t>8K</a:t>
            </a:r>
            <a:endParaRPr lang="en-US" sz="3000" dirty="0"/>
          </a:p>
        </p:txBody>
      </p:sp>
      <p:sp>
        <p:nvSpPr>
          <p:cNvPr id="14" name="Text 12"/>
          <p:cNvSpPr/>
          <p:nvPr/>
        </p:nvSpPr>
        <p:spPr>
          <a:xfrm>
            <a:off x="2514600" y="4069080"/>
            <a:ext cx="1920240" cy="41148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Drugs Analyzed</a:t>
            </a:r>
            <a:endParaRPr lang="en-US" sz="1100" dirty="0"/>
          </a:p>
        </p:txBody>
      </p:sp>
      <p:sp>
        <p:nvSpPr>
          <p:cNvPr id="15" name="Shape 13"/>
          <p:cNvSpPr/>
          <p:nvPr/>
        </p:nvSpPr>
        <p:spPr>
          <a:xfrm>
            <a:off x="4663440" y="3291840"/>
            <a:ext cx="1920240" cy="1371600"/>
          </a:xfrm>
          <a:prstGeom prst="rect">
            <a:avLst/>
          </a:prstGeom>
          <a:solidFill>
            <a:srgbClr val="19376D"/>
          </a:solidFill>
          <a:ln w="19050">
            <a:solidFill>
              <a:srgbClr val="0096C7"/>
            </a:solidFill>
            <a:prstDash val="solid"/>
          </a:ln>
          <a:effectLst>
            <a:outerShdw blurRad="76200" dist="38100" dir="8100000" algn="bl" rotWithShape="0">
              <a:srgbClr val="000000">
                <a:alpha val="30000"/>
              </a:srgbClr>
            </a:outerShdw>
          </a:effectLst>
        </p:spPr>
      </p:sp>
      <p:sp>
        <p:nvSpPr>
          <p:cNvPr id="16" name="Text 14"/>
          <p:cNvSpPr/>
          <p:nvPr/>
        </p:nvSpPr>
        <p:spPr>
          <a:xfrm>
            <a:off x="4663440" y="3383280"/>
            <a:ext cx="1920240" cy="685800"/>
          </a:xfrm>
          <a:prstGeom prst="rect">
            <a:avLst/>
          </a:prstGeom>
          <a:noFill/>
          <a:ln/>
        </p:spPr>
        <p:txBody>
          <a:bodyPr wrap="square" rtlCol="0" anchor="ctr"/>
          <a:lstStyle/>
          <a:p>
            <a:pPr marL="0" indent="0" algn="ctr">
              <a:buNone/>
            </a:pPr>
            <a:r>
              <a:rPr lang="en-US" sz="3000" b="1" dirty="0">
                <a:solidFill>
                  <a:srgbClr val="F4A261"/>
                </a:solidFill>
                <a:latin typeface="Trebuchet MS" pitchFamily="34" charset="0"/>
                <a:ea typeface="Trebuchet MS" pitchFamily="34" charset="-122"/>
                <a:cs typeface="Trebuchet MS" pitchFamily="34" charset="-120"/>
              </a:rPr>
              <a:t>216</a:t>
            </a:r>
            <a:endParaRPr lang="en-US" sz="3000" dirty="0"/>
          </a:p>
        </p:txBody>
      </p:sp>
      <p:sp>
        <p:nvSpPr>
          <p:cNvPr id="17" name="Text 15"/>
          <p:cNvSpPr/>
          <p:nvPr/>
        </p:nvSpPr>
        <p:spPr>
          <a:xfrm>
            <a:off x="4663440" y="4069080"/>
            <a:ext cx="1920240" cy="41148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High Signals</a:t>
            </a:r>
            <a:endParaRPr lang="en-US" sz="1100" dirty="0"/>
          </a:p>
        </p:txBody>
      </p:sp>
      <p:sp>
        <p:nvSpPr>
          <p:cNvPr id="18" name="Shape 16"/>
          <p:cNvSpPr/>
          <p:nvPr/>
        </p:nvSpPr>
        <p:spPr>
          <a:xfrm>
            <a:off x="6812280" y="3291840"/>
            <a:ext cx="1920240" cy="1371600"/>
          </a:xfrm>
          <a:prstGeom prst="rect">
            <a:avLst/>
          </a:prstGeom>
          <a:solidFill>
            <a:srgbClr val="19376D"/>
          </a:solidFill>
          <a:ln w="19050">
            <a:solidFill>
              <a:srgbClr val="0096C7"/>
            </a:solidFill>
            <a:prstDash val="solid"/>
          </a:ln>
          <a:effectLst>
            <a:outerShdw blurRad="76200" dist="38100" dir="8100000" algn="bl" rotWithShape="0">
              <a:srgbClr val="000000">
                <a:alpha val="30000"/>
              </a:srgbClr>
            </a:outerShdw>
          </a:effectLst>
        </p:spPr>
      </p:sp>
      <p:sp>
        <p:nvSpPr>
          <p:cNvPr id="19" name="Text 17"/>
          <p:cNvSpPr/>
          <p:nvPr/>
        </p:nvSpPr>
        <p:spPr>
          <a:xfrm>
            <a:off x="6812280" y="3383280"/>
            <a:ext cx="1920240" cy="685800"/>
          </a:xfrm>
          <a:prstGeom prst="rect">
            <a:avLst/>
          </a:prstGeom>
          <a:noFill/>
          <a:ln/>
        </p:spPr>
        <p:txBody>
          <a:bodyPr wrap="square" rtlCol="0" anchor="ctr"/>
          <a:lstStyle/>
          <a:p>
            <a:pPr marL="0" indent="0" algn="ctr">
              <a:buNone/>
            </a:pPr>
            <a:r>
              <a:rPr lang="en-US" sz="3000" b="1" dirty="0">
                <a:solidFill>
                  <a:srgbClr val="F4A261"/>
                </a:solidFill>
                <a:latin typeface="Trebuchet MS" pitchFamily="34" charset="0"/>
                <a:ea typeface="Trebuchet MS" pitchFamily="34" charset="-122"/>
                <a:cs typeface="Trebuchet MS" pitchFamily="34" charset="-120"/>
              </a:rPr>
              <a:t>45.56</a:t>
            </a:r>
            <a:endParaRPr lang="en-US" sz="3000" dirty="0"/>
          </a:p>
        </p:txBody>
      </p:sp>
      <p:sp>
        <p:nvSpPr>
          <p:cNvPr id="20" name="Text 18"/>
          <p:cNvSpPr/>
          <p:nvPr/>
        </p:nvSpPr>
        <p:spPr>
          <a:xfrm>
            <a:off x="6812280" y="4069080"/>
            <a:ext cx="1920240" cy="411480"/>
          </a:xfrm>
          <a:prstGeom prst="rect">
            <a:avLst/>
          </a:prstGeom>
          <a:noFill/>
          <a:ln/>
        </p:spPr>
        <p:txBody>
          <a:bodyPr wrap="square" rtlCol="0" anchor="ctr"/>
          <a:lstStyle/>
          <a:p>
            <a:pPr marL="0" indent="0" algn="ctr">
              <a:buNone/>
            </a:pPr>
            <a:r>
              <a:rPr lang="en-US" sz="1100" dirty="0">
                <a:solidFill>
                  <a:srgbClr val="B0C4DE"/>
                </a:solidFill>
                <a:latin typeface="Calibri" pitchFamily="34" charset="0"/>
                <a:ea typeface="Calibri" pitchFamily="34" charset="-122"/>
                <a:cs typeface="Calibri" pitchFamily="34" charset="-120"/>
              </a:rPr>
              <a:t>Max ROR</a:t>
            </a:r>
            <a:endParaRPr lang="en-US" sz="1100" dirty="0"/>
          </a:p>
        </p:txBody>
      </p:sp>
      <p:sp>
        <p:nvSpPr>
          <p:cNvPr id="21" name="Shape 19"/>
          <p:cNvSpPr/>
          <p:nvPr/>
        </p:nvSpPr>
        <p:spPr>
          <a:xfrm>
            <a:off x="0" y="4983480"/>
            <a:ext cx="9144000" cy="164592"/>
          </a:xfrm>
          <a:prstGeom prst="rect">
            <a:avLst/>
          </a:prstGeom>
          <a:solidFill>
            <a:srgbClr val="0096C7"/>
          </a:solidFill>
          <a:ln w="12700">
            <a:solidFill>
              <a:srgbClr val="0096C7"/>
            </a:solidFill>
            <a:prstDash val="solid"/>
          </a:ln>
        </p:spPr>
      </p:sp>
      <p:sp>
        <p:nvSpPr>
          <p:cNvPr id="22" name="Text 20"/>
          <p:cNvSpPr/>
          <p:nvPr/>
        </p:nvSpPr>
        <p:spPr>
          <a:xfrm>
            <a:off x="274320" y="4974336"/>
            <a:ext cx="8595360" cy="18288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Last Refreshed: OCT 2025  ·  Pharmacovigilance Department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Problem Statement &amp; Objective</a:t>
            </a:r>
            <a:endParaRPr lang="en-US" sz="2600" dirty="0"/>
          </a:p>
        </p:txBody>
      </p:sp>
      <p:sp>
        <p:nvSpPr>
          <p:cNvPr id="4" name="Shape 2"/>
          <p:cNvSpPr/>
          <p:nvPr/>
        </p:nvSpPr>
        <p:spPr>
          <a:xfrm>
            <a:off x="274320" y="1143000"/>
            <a:ext cx="4023360" cy="3520440"/>
          </a:xfrm>
          <a:prstGeom prst="rect">
            <a:avLst/>
          </a:prstGeom>
          <a:solidFill>
            <a:srgbClr val="F1F5F9"/>
          </a:solidFill>
          <a:ln w="12700">
            <a:solidFill>
              <a:srgbClr val="D1D5DB"/>
            </a:solidFill>
            <a:prstDash val="solid"/>
          </a:ln>
          <a:effectLst>
            <a:outerShdw blurRad="50800" dist="25400" dir="8100000" algn="bl" rotWithShape="0">
              <a:srgbClr val="000000">
                <a:alpha val="10000"/>
              </a:srgbClr>
            </a:outerShdw>
          </a:effectLst>
        </p:spPr>
      </p:sp>
      <p:sp>
        <p:nvSpPr>
          <p:cNvPr id="5" name="Text 3"/>
          <p:cNvSpPr/>
          <p:nvPr/>
        </p:nvSpPr>
        <p:spPr>
          <a:xfrm>
            <a:off x="457200" y="1280160"/>
            <a:ext cx="3657600" cy="411480"/>
          </a:xfrm>
          <a:prstGeom prst="rect">
            <a:avLst/>
          </a:prstGeom>
          <a:noFill/>
          <a:ln/>
        </p:spPr>
        <p:txBody>
          <a:bodyPr wrap="square" rtlCol="0" anchor="ctr"/>
          <a:lstStyle/>
          <a:p>
            <a:pPr marL="0" indent="0">
              <a:buNone/>
            </a:pPr>
            <a:r>
              <a:rPr lang="en-US" sz="1500" b="1" dirty="0">
                <a:solidFill>
                  <a:srgbClr val="E63946"/>
                </a:solidFill>
                <a:latin typeface="Trebuchet MS" pitchFamily="34" charset="0"/>
                <a:ea typeface="Trebuchet MS" pitchFamily="34" charset="-122"/>
                <a:cs typeface="Trebuchet MS" pitchFamily="34" charset="-120"/>
              </a:rPr>
              <a:t>⚠  The Problem</a:t>
            </a:r>
            <a:endParaRPr lang="en-US" sz="1500" dirty="0"/>
          </a:p>
        </p:txBody>
      </p:sp>
      <p:sp>
        <p:nvSpPr>
          <p:cNvPr id="6" name="Text 4"/>
          <p:cNvSpPr/>
          <p:nvPr/>
        </p:nvSpPr>
        <p:spPr>
          <a:xfrm>
            <a:off x="457200" y="1691640"/>
            <a:ext cx="3657600" cy="2651760"/>
          </a:xfrm>
          <a:prstGeom prst="rect">
            <a:avLst/>
          </a:prstGeom>
          <a:noFill/>
          <a:ln/>
        </p:spPr>
        <p:txBody>
          <a:bodyPr wrap="square" rtlCol="0" anchor="t"/>
          <a:lstStyle/>
          <a:p>
            <a:pPr marL="0" indent="0" algn="l">
              <a:buNone/>
            </a:pPr>
            <a:r>
              <a:rPr lang="en-US" sz="1300" b="1" dirty="0">
                <a:solidFill>
                  <a:srgbClr val="1E293B"/>
                </a:solidFill>
                <a:latin typeface="Calibri" pitchFamily="34" charset="0"/>
                <a:ea typeface="Calibri" pitchFamily="34" charset="-122"/>
                <a:cs typeface="Calibri" pitchFamily="34" charset="-120"/>
              </a:rPr>
              <a:t>Drug-Induced Liver Injury (DILI) </a:t>
            </a:r>
            <a:endParaRPr lang="en-US" sz="1300" dirty="0"/>
          </a:p>
          <a:p>
            <a:pPr marL="0" indent="0" algn="l">
              <a:buNone/>
            </a:pPr>
            <a:r>
              <a:rPr lang="en-US" sz="1300" dirty="0">
                <a:solidFill>
                  <a:srgbClr val="1E293B"/>
                </a:solidFill>
                <a:latin typeface="Calibri" pitchFamily="34" charset="0"/>
                <a:ea typeface="Calibri" pitchFamily="34" charset="-122"/>
                <a:cs typeface="Calibri" pitchFamily="34" charset="-120"/>
              </a:rPr>
              <a:t>is a leading cause of drug withdrawals and regulatory actions worldwide.</a:t>
            </a:r>
            <a:endParaRPr lang="en-US" sz="1300" dirty="0"/>
          </a:p>
          <a:p>
            <a:pPr marL="0" indent="0" algn="l">
              <a:buNone/>
            </a:pPr>
            <a:endParaRPr lang="en-US" sz="1300" dirty="0"/>
          </a:p>
          <a:p>
            <a:pPr marL="0" indent="0" algn="l">
              <a:buNone/>
            </a:pPr>
            <a:r>
              <a:rPr lang="en-US" sz="1300" dirty="0">
                <a:solidFill>
                  <a:srgbClr val="1E293B"/>
                </a:solidFill>
                <a:latin typeface="Calibri" pitchFamily="34" charset="0"/>
                <a:ea typeface="Calibri" pitchFamily="34" charset="-122"/>
                <a:cs typeface="Calibri" pitchFamily="34" charset="-120"/>
              </a:rPr>
              <a:t>Real-world adverse event data from </a:t>
            </a:r>
            <a:endParaRPr lang="en-US" sz="1300" dirty="0"/>
          </a:p>
          <a:p>
            <a:pPr marL="0" indent="0" algn="l">
              <a:buNone/>
            </a:pPr>
            <a:r>
              <a:rPr lang="en-US" sz="1300" b="1" dirty="0">
                <a:solidFill>
                  <a:srgbClr val="1E293B"/>
                </a:solidFill>
                <a:latin typeface="Calibri" pitchFamily="34" charset="0"/>
                <a:ea typeface="Calibri" pitchFamily="34" charset="-122"/>
                <a:cs typeface="Calibri" pitchFamily="34" charset="-120"/>
              </a:rPr>
              <a:t>FAERS</a:t>
            </a:r>
            <a:r>
              <a:rPr lang="en-US" sz="1300" dirty="0">
                <a:solidFill>
                  <a:srgbClr val="1E293B"/>
                </a:solidFill>
                <a:latin typeface="Calibri" pitchFamily="34" charset="0"/>
                <a:ea typeface="Calibri" pitchFamily="34" charset="-122"/>
                <a:cs typeface="Calibri" pitchFamily="34" charset="-120"/>
              </a:rPr>
              <a:t> provides an opportunity to detect statistical signals — even when causality cannot be established.</a:t>
            </a:r>
            <a:endParaRPr lang="en-US" sz="1300" dirty="0"/>
          </a:p>
        </p:txBody>
      </p:sp>
      <p:sp>
        <p:nvSpPr>
          <p:cNvPr id="7" name="Shape 5"/>
          <p:cNvSpPr/>
          <p:nvPr/>
        </p:nvSpPr>
        <p:spPr>
          <a:xfrm>
            <a:off x="4663440" y="1143000"/>
            <a:ext cx="4206240" cy="3520440"/>
          </a:xfrm>
          <a:prstGeom prst="rect">
            <a:avLst/>
          </a:prstGeom>
          <a:solidFill>
            <a:srgbClr val="EFF8FF"/>
          </a:solidFill>
          <a:ln w="19050">
            <a:solidFill>
              <a:srgbClr val="0096C7"/>
            </a:solidFill>
            <a:prstDash val="solid"/>
          </a:ln>
          <a:effectLst>
            <a:outerShdw blurRad="50800" dist="25400" dir="8100000" algn="bl" rotWithShape="0">
              <a:srgbClr val="000000">
                <a:alpha val="10000"/>
              </a:srgbClr>
            </a:outerShdw>
          </a:effectLst>
        </p:spPr>
      </p:sp>
      <p:sp>
        <p:nvSpPr>
          <p:cNvPr id="8" name="Text 6"/>
          <p:cNvSpPr/>
          <p:nvPr/>
        </p:nvSpPr>
        <p:spPr>
          <a:xfrm>
            <a:off x="4846320" y="1280160"/>
            <a:ext cx="3749040" cy="411480"/>
          </a:xfrm>
          <a:prstGeom prst="rect">
            <a:avLst/>
          </a:prstGeom>
          <a:noFill/>
          <a:ln/>
        </p:spPr>
        <p:txBody>
          <a:bodyPr wrap="square" rtlCol="0" anchor="ctr"/>
          <a:lstStyle/>
          <a:p>
            <a:pPr marL="0" indent="0">
              <a:buNone/>
            </a:pPr>
            <a:r>
              <a:rPr lang="en-US" sz="1500" b="1" dirty="0">
                <a:solidFill>
                  <a:srgbClr val="0096C7"/>
                </a:solidFill>
                <a:latin typeface="Trebuchet MS" pitchFamily="34" charset="0"/>
                <a:ea typeface="Trebuchet MS" pitchFamily="34" charset="-122"/>
                <a:cs typeface="Trebuchet MS" pitchFamily="34" charset="-120"/>
              </a:rPr>
              <a:t>🎯  Objectives</a:t>
            </a:r>
            <a:endParaRPr lang="en-US" sz="1500" dirty="0"/>
          </a:p>
        </p:txBody>
      </p:sp>
      <p:sp>
        <p:nvSpPr>
          <p:cNvPr id="9" name="Shape 7"/>
          <p:cNvSpPr/>
          <p:nvPr/>
        </p:nvSpPr>
        <p:spPr>
          <a:xfrm>
            <a:off x="4846320" y="1737360"/>
            <a:ext cx="256032" cy="256032"/>
          </a:xfrm>
          <a:prstGeom prst="ellipse">
            <a:avLst/>
          </a:prstGeom>
          <a:solidFill>
            <a:srgbClr val="0096C7"/>
          </a:solidFill>
          <a:ln w="12700">
            <a:solidFill>
              <a:srgbClr val="0096C7"/>
            </a:solidFill>
            <a:prstDash val="solid"/>
          </a:ln>
        </p:spPr>
      </p:sp>
      <p:sp>
        <p:nvSpPr>
          <p:cNvPr id="10" name="Text 8"/>
          <p:cNvSpPr/>
          <p:nvPr/>
        </p:nvSpPr>
        <p:spPr>
          <a:xfrm>
            <a:off x="5212080" y="1719072"/>
            <a:ext cx="347472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Identify statistical DILI signals using ROR-based disproportionality analysis</a:t>
            </a:r>
            <a:endParaRPr lang="en-US" sz="1200" dirty="0"/>
          </a:p>
        </p:txBody>
      </p:sp>
      <p:sp>
        <p:nvSpPr>
          <p:cNvPr id="11" name="Shape 9"/>
          <p:cNvSpPr/>
          <p:nvPr/>
        </p:nvSpPr>
        <p:spPr>
          <a:xfrm>
            <a:off x="4846320" y="2395728"/>
            <a:ext cx="256032" cy="256032"/>
          </a:xfrm>
          <a:prstGeom prst="ellipse">
            <a:avLst/>
          </a:prstGeom>
          <a:solidFill>
            <a:srgbClr val="0096C7"/>
          </a:solidFill>
          <a:ln w="12700">
            <a:solidFill>
              <a:srgbClr val="0096C7"/>
            </a:solidFill>
            <a:prstDash val="solid"/>
          </a:ln>
        </p:spPr>
      </p:sp>
      <p:sp>
        <p:nvSpPr>
          <p:cNvPr id="12" name="Text 10"/>
          <p:cNvSpPr/>
          <p:nvPr/>
        </p:nvSpPr>
        <p:spPr>
          <a:xfrm>
            <a:off x="5212080" y="2377440"/>
            <a:ext cx="347472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Analyze 2025 FAERS data across demographic segments</a:t>
            </a:r>
            <a:endParaRPr lang="en-US" sz="1200" dirty="0"/>
          </a:p>
        </p:txBody>
      </p:sp>
      <p:sp>
        <p:nvSpPr>
          <p:cNvPr id="13" name="Shape 11"/>
          <p:cNvSpPr/>
          <p:nvPr/>
        </p:nvSpPr>
        <p:spPr>
          <a:xfrm>
            <a:off x="4846320" y="3054096"/>
            <a:ext cx="256032" cy="256032"/>
          </a:xfrm>
          <a:prstGeom prst="ellipse">
            <a:avLst/>
          </a:prstGeom>
          <a:solidFill>
            <a:srgbClr val="0096C7"/>
          </a:solidFill>
          <a:ln w="12700">
            <a:solidFill>
              <a:srgbClr val="0096C7"/>
            </a:solidFill>
            <a:prstDash val="solid"/>
          </a:ln>
        </p:spPr>
      </p:sp>
      <p:sp>
        <p:nvSpPr>
          <p:cNvPr id="14" name="Text 12"/>
          <p:cNvSpPr/>
          <p:nvPr/>
        </p:nvSpPr>
        <p:spPr>
          <a:xfrm>
            <a:off x="5212080" y="3035808"/>
            <a:ext cx="347472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Prioritize signals by combining strength (ROR) and case volume</a:t>
            </a:r>
            <a:endParaRPr lang="en-US" sz="1200" dirty="0"/>
          </a:p>
        </p:txBody>
      </p:sp>
      <p:sp>
        <p:nvSpPr>
          <p:cNvPr id="15" name="Shape 13"/>
          <p:cNvSpPr/>
          <p:nvPr/>
        </p:nvSpPr>
        <p:spPr>
          <a:xfrm>
            <a:off x="4846320" y="3712464"/>
            <a:ext cx="256032" cy="256032"/>
          </a:xfrm>
          <a:prstGeom prst="ellipse">
            <a:avLst/>
          </a:prstGeom>
          <a:solidFill>
            <a:srgbClr val="0096C7"/>
          </a:solidFill>
          <a:ln w="12700">
            <a:solidFill>
              <a:srgbClr val="0096C7"/>
            </a:solidFill>
            <a:prstDash val="solid"/>
          </a:ln>
        </p:spPr>
      </p:sp>
      <p:sp>
        <p:nvSpPr>
          <p:cNvPr id="16" name="Text 14"/>
          <p:cNvSpPr/>
          <p:nvPr/>
        </p:nvSpPr>
        <p:spPr>
          <a:xfrm>
            <a:off x="5212080" y="3694176"/>
            <a:ext cx="3474720" cy="32004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Support regulatory safety teams with evidence-based insights</a:t>
            </a:r>
            <a:endParaRPr lang="en-US" sz="1200" dirty="0"/>
          </a:p>
        </p:txBody>
      </p:sp>
      <p:sp>
        <p:nvSpPr>
          <p:cNvPr id="17" name="Shape 15"/>
          <p:cNvSpPr/>
          <p:nvPr/>
        </p:nvSpPr>
        <p:spPr>
          <a:xfrm>
            <a:off x="0" y="4983480"/>
            <a:ext cx="9144000" cy="164592"/>
          </a:xfrm>
          <a:prstGeom prst="rect">
            <a:avLst/>
          </a:prstGeom>
          <a:solidFill>
            <a:srgbClr val="0B2447"/>
          </a:solidFill>
          <a:ln w="12700">
            <a:solidFill>
              <a:srgbClr val="0B2447"/>
            </a:solidFill>
            <a:prstDash val="solid"/>
          </a:ln>
        </p:spPr>
      </p:sp>
      <p:sp>
        <p:nvSpPr>
          <p:cNvPr id="18" name="Text 16"/>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Data Source &amp; Preprocessing</a:t>
            </a:r>
            <a:endParaRPr lang="en-US" sz="2600" dirty="0"/>
          </a:p>
        </p:txBody>
      </p:sp>
      <p:sp>
        <p:nvSpPr>
          <p:cNvPr id="4" name="Text 2"/>
          <p:cNvSpPr/>
          <p:nvPr/>
        </p:nvSpPr>
        <p:spPr>
          <a:xfrm>
            <a:off x="274320" y="1051560"/>
            <a:ext cx="4114800" cy="365760"/>
          </a:xfrm>
          <a:prstGeom prst="rect">
            <a:avLst/>
          </a:prstGeom>
          <a:noFill/>
          <a:ln/>
        </p:spPr>
        <p:txBody>
          <a:bodyPr wrap="square" rtlCol="0" anchor="ctr"/>
          <a:lstStyle/>
          <a:p>
            <a:pPr marL="0" indent="0">
              <a:buNone/>
            </a:pPr>
            <a:r>
              <a:rPr lang="en-US" sz="1400" b="1" dirty="0">
                <a:solidFill>
                  <a:srgbClr val="0B2447"/>
                </a:solidFill>
                <a:latin typeface="Trebuchet MS" pitchFamily="34" charset="0"/>
                <a:ea typeface="Trebuchet MS" pitchFamily="34" charset="-122"/>
                <a:cs typeface="Trebuchet MS" pitchFamily="34" charset="-120"/>
              </a:rPr>
              <a:t>FAERS Tables Used</a:t>
            </a:r>
            <a:endParaRPr lang="en-US" sz="1400" dirty="0"/>
          </a:p>
        </p:txBody>
      </p:sp>
      <p:sp>
        <p:nvSpPr>
          <p:cNvPr id="5" name="Shape 3"/>
          <p:cNvSpPr/>
          <p:nvPr/>
        </p:nvSpPr>
        <p:spPr>
          <a:xfrm>
            <a:off x="274320" y="1463040"/>
            <a:ext cx="1005840" cy="438912"/>
          </a:xfrm>
          <a:prstGeom prst="rect">
            <a:avLst/>
          </a:prstGeom>
          <a:solidFill>
            <a:srgbClr val="0096C7"/>
          </a:solidFill>
          <a:ln w="12700">
            <a:solidFill>
              <a:srgbClr val="0096C7"/>
            </a:solidFill>
            <a:prstDash val="solid"/>
          </a:ln>
        </p:spPr>
      </p:sp>
      <p:sp>
        <p:nvSpPr>
          <p:cNvPr id="6" name="Text 4"/>
          <p:cNvSpPr/>
          <p:nvPr/>
        </p:nvSpPr>
        <p:spPr>
          <a:xfrm>
            <a:off x="274320" y="1463040"/>
            <a:ext cx="1005840" cy="438912"/>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DEMO</a:t>
            </a:r>
            <a:endParaRPr lang="en-US" sz="1300" dirty="0"/>
          </a:p>
        </p:txBody>
      </p:sp>
      <p:sp>
        <p:nvSpPr>
          <p:cNvPr id="7" name="Shape 5"/>
          <p:cNvSpPr/>
          <p:nvPr/>
        </p:nvSpPr>
        <p:spPr>
          <a:xfrm>
            <a:off x="1280160" y="1463040"/>
            <a:ext cx="2880360" cy="438912"/>
          </a:xfrm>
          <a:prstGeom prst="rect">
            <a:avLst/>
          </a:prstGeom>
          <a:solidFill>
            <a:srgbClr val="F1F5F9"/>
          </a:solidFill>
          <a:ln w="12700">
            <a:solidFill>
              <a:srgbClr val="D1D5DB"/>
            </a:solidFill>
            <a:prstDash val="solid"/>
          </a:ln>
        </p:spPr>
      </p:sp>
      <p:sp>
        <p:nvSpPr>
          <p:cNvPr id="8" name="Text 6"/>
          <p:cNvSpPr/>
          <p:nvPr/>
        </p:nvSpPr>
        <p:spPr>
          <a:xfrm>
            <a:off x="1371600" y="1463040"/>
            <a:ext cx="2743200" cy="43891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Patient demographics</a:t>
            </a:r>
            <a:endParaRPr lang="en-US" sz="1200" dirty="0"/>
          </a:p>
        </p:txBody>
      </p:sp>
      <p:sp>
        <p:nvSpPr>
          <p:cNvPr id="9" name="Shape 7"/>
          <p:cNvSpPr/>
          <p:nvPr/>
        </p:nvSpPr>
        <p:spPr>
          <a:xfrm>
            <a:off x="274320" y="2057400"/>
            <a:ext cx="1005840" cy="438912"/>
          </a:xfrm>
          <a:prstGeom prst="rect">
            <a:avLst/>
          </a:prstGeom>
          <a:solidFill>
            <a:srgbClr val="0096C7"/>
          </a:solidFill>
          <a:ln w="12700">
            <a:solidFill>
              <a:srgbClr val="0096C7"/>
            </a:solidFill>
            <a:prstDash val="solid"/>
          </a:ln>
        </p:spPr>
      </p:sp>
      <p:sp>
        <p:nvSpPr>
          <p:cNvPr id="10" name="Text 8"/>
          <p:cNvSpPr/>
          <p:nvPr/>
        </p:nvSpPr>
        <p:spPr>
          <a:xfrm>
            <a:off x="274320" y="2057400"/>
            <a:ext cx="1005840" cy="438912"/>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DRUG</a:t>
            </a:r>
            <a:endParaRPr lang="en-US" sz="1300" dirty="0"/>
          </a:p>
        </p:txBody>
      </p:sp>
      <p:sp>
        <p:nvSpPr>
          <p:cNvPr id="11" name="Shape 9"/>
          <p:cNvSpPr/>
          <p:nvPr/>
        </p:nvSpPr>
        <p:spPr>
          <a:xfrm>
            <a:off x="1280160" y="2057400"/>
            <a:ext cx="2880360" cy="438912"/>
          </a:xfrm>
          <a:prstGeom prst="rect">
            <a:avLst/>
          </a:prstGeom>
          <a:solidFill>
            <a:srgbClr val="F1F5F9"/>
          </a:solidFill>
          <a:ln w="12700">
            <a:solidFill>
              <a:srgbClr val="D1D5DB"/>
            </a:solidFill>
            <a:prstDash val="solid"/>
          </a:ln>
        </p:spPr>
      </p:sp>
      <p:sp>
        <p:nvSpPr>
          <p:cNvPr id="12" name="Text 10"/>
          <p:cNvSpPr/>
          <p:nvPr/>
        </p:nvSpPr>
        <p:spPr>
          <a:xfrm>
            <a:off x="1371600" y="2057400"/>
            <a:ext cx="2743200" cy="43891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Drug information &amp; role</a:t>
            </a:r>
            <a:endParaRPr lang="en-US" sz="1200" dirty="0"/>
          </a:p>
        </p:txBody>
      </p:sp>
      <p:sp>
        <p:nvSpPr>
          <p:cNvPr id="13" name="Shape 11"/>
          <p:cNvSpPr/>
          <p:nvPr/>
        </p:nvSpPr>
        <p:spPr>
          <a:xfrm>
            <a:off x="274320" y="2651760"/>
            <a:ext cx="1005840" cy="438912"/>
          </a:xfrm>
          <a:prstGeom prst="rect">
            <a:avLst/>
          </a:prstGeom>
          <a:solidFill>
            <a:srgbClr val="0096C7"/>
          </a:solidFill>
          <a:ln w="12700">
            <a:solidFill>
              <a:srgbClr val="0096C7"/>
            </a:solidFill>
            <a:prstDash val="solid"/>
          </a:ln>
        </p:spPr>
      </p:sp>
      <p:sp>
        <p:nvSpPr>
          <p:cNvPr id="14" name="Text 12"/>
          <p:cNvSpPr/>
          <p:nvPr/>
        </p:nvSpPr>
        <p:spPr>
          <a:xfrm>
            <a:off x="274320" y="2651760"/>
            <a:ext cx="1005840" cy="438912"/>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REAC</a:t>
            </a:r>
            <a:endParaRPr lang="en-US" sz="1300" dirty="0"/>
          </a:p>
        </p:txBody>
      </p:sp>
      <p:sp>
        <p:nvSpPr>
          <p:cNvPr id="15" name="Shape 13"/>
          <p:cNvSpPr/>
          <p:nvPr/>
        </p:nvSpPr>
        <p:spPr>
          <a:xfrm>
            <a:off x="1280160" y="2651760"/>
            <a:ext cx="2880360" cy="438912"/>
          </a:xfrm>
          <a:prstGeom prst="rect">
            <a:avLst/>
          </a:prstGeom>
          <a:solidFill>
            <a:srgbClr val="F1F5F9"/>
          </a:solidFill>
          <a:ln w="12700">
            <a:solidFill>
              <a:srgbClr val="D1D5DB"/>
            </a:solidFill>
            <a:prstDash val="solid"/>
          </a:ln>
        </p:spPr>
      </p:sp>
      <p:sp>
        <p:nvSpPr>
          <p:cNvPr id="16" name="Text 14"/>
          <p:cNvSpPr/>
          <p:nvPr/>
        </p:nvSpPr>
        <p:spPr>
          <a:xfrm>
            <a:off x="1371600" y="2651760"/>
            <a:ext cx="2743200" cy="43891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Adverse event terms (MedDRA)</a:t>
            </a:r>
            <a:endParaRPr lang="en-US" sz="1200" dirty="0"/>
          </a:p>
        </p:txBody>
      </p:sp>
      <p:sp>
        <p:nvSpPr>
          <p:cNvPr id="17" name="Shape 15"/>
          <p:cNvSpPr/>
          <p:nvPr/>
        </p:nvSpPr>
        <p:spPr>
          <a:xfrm>
            <a:off x="274320" y="3246120"/>
            <a:ext cx="1005840" cy="438912"/>
          </a:xfrm>
          <a:prstGeom prst="rect">
            <a:avLst/>
          </a:prstGeom>
          <a:solidFill>
            <a:srgbClr val="0096C7"/>
          </a:solidFill>
          <a:ln w="12700">
            <a:solidFill>
              <a:srgbClr val="0096C7"/>
            </a:solidFill>
            <a:prstDash val="solid"/>
          </a:ln>
        </p:spPr>
      </p:sp>
      <p:sp>
        <p:nvSpPr>
          <p:cNvPr id="18" name="Text 16"/>
          <p:cNvSpPr/>
          <p:nvPr/>
        </p:nvSpPr>
        <p:spPr>
          <a:xfrm>
            <a:off x="274320" y="3246120"/>
            <a:ext cx="1005840" cy="438912"/>
          </a:xfrm>
          <a:prstGeom prst="rect">
            <a:avLst/>
          </a:prstGeom>
          <a:noFill/>
          <a:ln/>
        </p:spPr>
        <p:txBody>
          <a:bodyPr wrap="square"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OUTC</a:t>
            </a:r>
            <a:endParaRPr lang="en-US" sz="1300" dirty="0"/>
          </a:p>
        </p:txBody>
      </p:sp>
      <p:sp>
        <p:nvSpPr>
          <p:cNvPr id="19" name="Shape 17"/>
          <p:cNvSpPr/>
          <p:nvPr/>
        </p:nvSpPr>
        <p:spPr>
          <a:xfrm>
            <a:off x="1280160" y="3246120"/>
            <a:ext cx="2880360" cy="438912"/>
          </a:xfrm>
          <a:prstGeom prst="rect">
            <a:avLst/>
          </a:prstGeom>
          <a:solidFill>
            <a:srgbClr val="F1F5F9"/>
          </a:solidFill>
          <a:ln w="12700">
            <a:solidFill>
              <a:srgbClr val="D1D5DB"/>
            </a:solidFill>
            <a:prstDash val="solid"/>
          </a:ln>
        </p:spPr>
      </p:sp>
      <p:sp>
        <p:nvSpPr>
          <p:cNvPr id="20" name="Text 18"/>
          <p:cNvSpPr/>
          <p:nvPr/>
        </p:nvSpPr>
        <p:spPr>
          <a:xfrm>
            <a:off x="1371600" y="3246120"/>
            <a:ext cx="2743200" cy="438912"/>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Outcomes (serious/non-serious)</a:t>
            </a:r>
            <a:endParaRPr lang="en-US" sz="1200" dirty="0"/>
          </a:p>
        </p:txBody>
      </p:sp>
      <p:sp>
        <p:nvSpPr>
          <p:cNvPr id="21" name="Text 19"/>
          <p:cNvSpPr/>
          <p:nvPr/>
        </p:nvSpPr>
        <p:spPr>
          <a:xfrm>
            <a:off x="4572000" y="1051560"/>
            <a:ext cx="4206240" cy="365760"/>
          </a:xfrm>
          <a:prstGeom prst="rect">
            <a:avLst/>
          </a:prstGeom>
          <a:noFill/>
          <a:ln/>
        </p:spPr>
        <p:txBody>
          <a:bodyPr wrap="square" rtlCol="0" anchor="ctr"/>
          <a:lstStyle/>
          <a:p>
            <a:pPr marL="0" indent="0">
              <a:buNone/>
            </a:pPr>
            <a:r>
              <a:rPr lang="en-US" sz="1400" b="1" dirty="0">
                <a:solidFill>
                  <a:srgbClr val="0B2447"/>
                </a:solidFill>
                <a:latin typeface="Trebuchet MS" pitchFamily="34" charset="0"/>
                <a:ea typeface="Trebuchet MS" pitchFamily="34" charset="-122"/>
                <a:cs typeface="Trebuchet MS" pitchFamily="34" charset="-120"/>
              </a:rPr>
              <a:t>Preprocessing Pipeline</a:t>
            </a:r>
            <a:endParaRPr lang="en-US" sz="1400" dirty="0"/>
          </a:p>
        </p:txBody>
      </p:sp>
      <p:sp>
        <p:nvSpPr>
          <p:cNvPr id="22" name="Shape 20"/>
          <p:cNvSpPr/>
          <p:nvPr/>
        </p:nvSpPr>
        <p:spPr>
          <a:xfrm>
            <a:off x="4572000" y="1463040"/>
            <a:ext cx="4206240" cy="658368"/>
          </a:xfrm>
          <a:prstGeom prst="rect">
            <a:avLst/>
          </a:prstGeom>
          <a:solidFill>
            <a:srgbClr val="F1F5F9"/>
          </a:solidFill>
          <a:ln w="12700">
            <a:solidFill>
              <a:srgbClr val="D1D5DB"/>
            </a:solidFill>
            <a:prstDash val="solid"/>
          </a:ln>
          <a:effectLst>
            <a:outerShdw blurRad="38100" dist="12700" dir="8100000" algn="bl" rotWithShape="0">
              <a:srgbClr val="000000">
                <a:alpha val="8000"/>
              </a:srgbClr>
            </a:outerShdw>
          </a:effectLst>
        </p:spPr>
      </p:sp>
      <p:sp>
        <p:nvSpPr>
          <p:cNvPr id="23" name="Text 21"/>
          <p:cNvSpPr/>
          <p:nvPr/>
        </p:nvSpPr>
        <p:spPr>
          <a:xfrm>
            <a:off x="4709160" y="1490472"/>
            <a:ext cx="3931920" cy="274320"/>
          </a:xfrm>
          <a:prstGeom prst="rect">
            <a:avLst/>
          </a:prstGeom>
          <a:noFill/>
          <a:ln/>
        </p:spPr>
        <p:txBody>
          <a:bodyPr wrap="square"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1. Duplicate Removal</a:t>
            </a:r>
            <a:endParaRPr lang="en-US" sz="1200" dirty="0"/>
          </a:p>
        </p:txBody>
      </p:sp>
      <p:sp>
        <p:nvSpPr>
          <p:cNvPr id="24" name="Text 22"/>
          <p:cNvSpPr/>
          <p:nvPr/>
        </p:nvSpPr>
        <p:spPr>
          <a:xfrm>
            <a:off x="4709160" y="1764792"/>
            <a:ext cx="393192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Kept latest case version per caseid using fda_dt</a:t>
            </a:r>
            <a:endParaRPr lang="en-US" sz="1100" dirty="0"/>
          </a:p>
        </p:txBody>
      </p:sp>
      <p:sp>
        <p:nvSpPr>
          <p:cNvPr id="25" name="Shape 23"/>
          <p:cNvSpPr/>
          <p:nvPr/>
        </p:nvSpPr>
        <p:spPr>
          <a:xfrm>
            <a:off x="4572000" y="2231136"/>
            <a:ext cx="4206240" cy="658368"/>
          </a:xfrm>
          <a:prstGeom prst="rect">
            <a:avLst/>
          </a:prstGeom>
          <a:solidFill>
            <a:srgbClr val="EFF8FF"/>
          </a:solidFill>
          <a:ln w="12700">
            <a:solidFill>
              <a:srgbClr val="D1D5DB"/>
            </a:solidFill>
            <a:prstDash val="solid"/>
          </a:ln>
          <a:effectLst>
            <a:outerShdw blurRad="38100" dist="12700" dir="8100000" algn="bl" rotWithShape="0">
              <a:srgbClr val="000000">
                <a:alpha val="8000"/>
              </a:srgbClr>
            </a:outerShdw>
          </a:effectLst>
        </p:spPr>
      </p:sp>
      <p:sp>
        <p:nvSpPr>
          <p:cNvPr id="26" name="Text 24"/>
          <p:cNvSpPr/>
          <p:nvPr/>
        </p:nvSpPr>
        <p:spPr>
          <a:xfrm>
            <a:off x="4709160" y="2258568"/>
            <a:ext cx="3931920" cy="274320"/>
          </a:xfrm>
          <a:prstGeom prst="rect">
            <a:avLst/>
          </a:prstGeom>
          <a:noFill/>
          <a:ln/>
        </p:spPr>
        <p:txBody>
          <a:bodyPr wrap="square"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2. Drug Filtering</a:t>
            </a:r>
            <a:endParaRPr lang="en-US" sz="1200" dirty="0"/>
          </a:p>
        </p:txBody>
      </p:sp>
      <p:sp>
        <p:nvSpPr>
          <p:cNvPr id="27" name="Text 25"/>
          <p:cNvSpPr/>
          <p:nvPr/>
        </p:nvSpPr>
        <p:spPr>
          <a:xfrm>
            <a:off x="4709160" y="2532888"/>
            <a:ext cx="393192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Only Primary (PS) &amp; Secondary Suspect (SS) drugs included</a:t>
            </a:r>
            <a:endParaRPr lang="en-US" sz="1100" dirty="0"/>
          </a:p>
        </p:txBody>
      </p:sp>
      <p:sp>
        <p:nvSpPr>
          <p:cNvPr id="28" name="Shape 26"/>
          <p:cNvSpPr/>
          <p:nvPr/>
        </p:nvSpPr>
        <p:spPr>
          <a:xfrm>
            <a:off x="4572000" y="2999232"/>
            <a:ext cx="4206240" cy="658368"/>
          </a:xfrm>
          <a:prstGeom prst="rect">
            <a:avLst/>
          </a:prstGeom>
          <a:solidFill>
            <a:srgbClr val="F1F5F9"/>
          </a:solidFill>
          <a:ln w="12700">
            <a:solidFill>
              <a:srgbClr val="D1D5DB"/>
            </a:solidFill>
            <a:prstDash val="solid"/>
          </a:ln>
          <a:effectLst>
            <a:outerShdw blurRad="38100" dist="12700" dir="8100000" algn="bl" rotWithShape="0">
              <a:srgbClr val="000000">
                <a:alpha val="8000"/>
              </a:srgbClr>
            </a:outerShdw>
          </a:effectLst>
        </p:spPr>
      </p:sp>
      <p:sp>
        <p:nvSpPr>
          <p:cNvPr id="29" name="Text 27"/>
          <p:cNvSpPr/>
          <p:nvPr/>
        </p:nvSpPr>
        <p:spPr>
          <a:xfrm>
            <a:off x="4709160" y="3026664"/>
            <a:ext cx="3931920" cy="274320"/>
          </a:xfrm>
          <a:prstGeom prst="rect">
            <a:avLst/>
          </a:prstGeom>
          <a:noFill/>
          <a:ln/>
        </p:spPr>
        <p:txBody>
          <a:bodyPr wrap="square"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3. Data Merging</a:t>
            </a:r>
            <a:endParaRPr lang="en-US" sz="1200" dirty="0"/>
          </a:p>
        </p:txBody>
      </p:sp>
      <p:sp>
        <p:nvSpPr>
          <p:cNvPr id="30" name="Text 28"/>
          <p:cNvSpPr/>
          <p:nvPr/>
        </p:nvSpPr>
        <p:spPr>
          <a:xfrm>
            <a:off x="4709160" y="3300984"/>
            <a:ext cx="393192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DEMO + DRUG + REAC + OUTC merged on primaryid</a:t>
            </a:r>
            <a:endParaRPr lang="en-US" sz="1100" dirty="0"/>
          </a:p>
        </p:txBody>
      </p:sp>
      <p:sp>
        <p:nvSpPr>
          <p:cNvPr id="31" name="Shape 29"/>
          <p:cNvSpPr/>
          <p:nvPr/>
        </p:nvSpPr>
        <p:spPr>
          <a:xfrm>
            <a:off x="4572000" y="3767328"/>
            <a:ext cx="4206240" cy="658368"/>
          </a:xfrm>
          <a:prstGeom prst="rect">
            <a:avLst/>
          </a:prstGeom>
          <a:solidFill>
            <a:srgbClr val="EFF8FF"/>
          </a:solidFill>
          <a:ln w="12700">
            <a:solidFill>
              <a:srgbClr val="D1D5DB"/>
            </a:solidFill>
            <a:prstDash val="solid"/>
          </a:ln>
          <a:effectLst>
            <a:outerShdw blurRad="38100" dist="12700" dir="8100000" algn="bl" rotWithShape="0">
              <a:srgbClr val="000000">
                <a:alpha val="8000"/>
              </a:srgbClr>
            </a:outerShdw>
          </a:effectLst>
        </p:spPr>
      </p:sp>
      <p:sp>
        <p:nvSpPr>
          <p:cNvPr id="32" name="Text 30"/>
          <p:cNvSpPr/>
          <p:nvPr/>
        </p:nvSpPr>
        <p:spPr>
          <a:xfrm>
            <a:off x="4709160" y="3794760"/>
            <a:ext cx="3931920" cy="274320"/>
          </a:xfrm>
          <a:prstGeom prst="rect">
            <a:avLst/>
          </a:prstGeom>
          <a:noFill/>
          <a:ln/>
        </p:spPr>
        <p:txBody>
          <a:bodyPr wrap="square"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4. Post-merge Dedup</a:t>
            </a:r>
            <a:endParaRPr lang="en-US" sz="1200" dirty="0"/>
          </a:p>
        </p:txBody>
      </p:sp>
      <p:sp>
        <p:nvSpPr>
          <p:cNvPr id="33" name="Text 31"/>
          <p:cNvSpPr/>
          <p:nvPr/>
        </p:nvSpPr>
        <p:spPr>
          <a:xfrm>
            <a:off x="4709160" y="4069080"/>
            <a:ext cx="3931920" cy="3200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Removed duplicate primaryid + drugname combinations</a:t>
            </a:r>
            <a:endParaRPr lang="en-US" sz="1100" dirty="0"/>
          </a:p>
        </p:txBody>
      </p:sp>
      <p:sp>
        <p:nvSpPr>
          <p:cNvPr id="34" name="Shape 32"/>
          <p:cNvSpPr/>
          <p:nvPr/>
        </p:nvSpPr>
        <p:spPr>
          <a:xfrm>
            <a:off x="0" y="4983480"/>
            <a:ext cx="9144000" cy="164592"/>
          </a:xfrm>
          <a:prstGeom prst="rect">
            <a:avLst/>
          </a:prstGeom>
          <a:solidFill>
            <a:srgbClr val="0B2447"/>
          </a:solidFill>
          <a:ln w="12700">
            <a:solidFill>
              <a:srgbClr val="0B2447"/>
            </a:solidFill>
            <a:prstDash val="solid"/>
          </a:ln>
        </p:spPr>
      </p:sp>
      <p:sp>
        <p:nvSpPr>
          <p:cNvPr id="35" name="Text 33"/>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DILI Identification &amp; Case Framework</a:t>
            </a:r>
            <a:endParaRPr lang="en-US" sz="2600" dirty="0"/>
          </a:p>
        </p:txBody>
      </p:sp>
      <p:sp>
        <p:nvSpPr>
          <p:cNvPr id="4" name="Text 2"/>
          <p:cNvSpPr/>
          <p:nvPr/>
        </p:nvSpPr>
        <p:spPr>
          <a:xfrm>
            <a:off x="274320" y="1051560"/>
            <a:ext cx="4114800" cy="365760"/>
          </a:xfrm>
          <a:prstGeom prst="rect">
            <a:avLst/>
          </a:prstGeom>
          <a:noFill/>
          <a:ln/>
        </p:spPr>
        <p:txBody>
          <a:bodyPr wrap="square" rtlCol="0" anchor="ctr"/>
          <a:lstStyle/>
          <a:p>
            <a:pPr marL="0" indent="0">
              <a:buNone/>
            </a:pPr>
            <a:r>
              <a:rPr lang="en-US" sz="1300" b="1" dirty="0">
                <a:solidFill>
                  <a:srgbClr val="0B2447"/>
                </a:solidFill>
                <a:latin typeface="Trebuchet MS" pitchFamily="34" charset="0"/>
                <a:ea typeface="Trebuchet MS" pitchFamily="34" charset="-122"/>
                <a:cs typeface="Trebuchet MS" pitchFamily="34" charset="-120"/>
              </a:rPr>
              <a:t>MedDRA Preferred Terms (PT) for DILI</a:t>
            </a:r>
            <a:endParaRPr lang="en-US" sz="1300" dirty="0"/>
          </a:p>
        </p:txBody>
      </p:sp>
      <p:sp>
        <p:nvSpPr>
          <p:cNvPr id="5" name="Shape 3"/>
          <p:cNvSpPr/>
          <p:nvPr/>
        </p:nvSpPr>
        <p:spPr>
          <a:xfrm>
            <a:off x="274320" y="1463040"/>
            <a:ext cx="228600" cy="347472"/>
          </a:xfrm>
          <a:prstGeom prst="rect">
            <a:avLst/>
          </a:prstGeom>
          <a:solidFill>
            <a:srgbClr val="E63946"/>
          </a:solidFill>
          <a:ln w="12700">
            <a:solidFill>
              <a:srgbClr val="E63946"/>
            </a:solidFill>
            <a:prstDash val="solid"/>
          </a:ln>
        </p:spPr>
      </p:sp>
      <p:sp>
        <p:nvSpPr>
          <p:cNvPr id="6" name="Shape 4"/>
          <p:cNvSpPr/>
          <p:nvPr/>
        </p:nvSpPr>
        <p:spPr>
          <a:xfrm>
            <a:off x="502920" y="1463040"/>
            <a:ext cx="3657600" cy="347472"/>
          </a:xfrm>
          <a:prstGeom prst="rect">
            <a:avLst/>
          </a:prstGeom>
          <a:solidFill>
            <a:srgbClr val="FFF5F5"/>
          </a:solidFill>
          <a:ln w="12700">
            <a:solidFill>
              <a:srgbClr val="FECDD3"/>
            </a:solidFill>
            <a:prstDash val="solid"/>
          </a:ln>
        </p:spPr>
      </p:sp>
      <p:sp>
        <p:nvSpPr>
          <p:cNvPr id="7" name="Text 5"/>
          <p:cNvSpPr/>
          <p:nvPr/>
        </p:nvSpPr>
        <p:spPr>
          <a:xfrm>
            <a:off x="594360" y="1463040"/>
            <a:ext cx="3474720" cy="3474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Hepatic failure</a:t>
            </a:r>
            <a:endParaRPr lang="en-US" sz="1250" dirty="0"/>
          </a:p>
        </p:txBody>
      </p:sp>
      <p:sp>
        <p:nvSpPr>
          <p:cNvPr id="8" name="Shape 6"/>
          <p:cNvSpPr/>
          <p:nvPr/>
        </p:nvSpPr>
        <p:spPr>
          <a:xfrm>
            <a:off x="274320" y="1965960"/>
            <a:ext cx="228600" cy="347472"/>
          </a:xfrm>
          <a:prstGeom prst="rect">
            <a:avLst/>
          </a:prstGeom>
          <a:solidFill>
            <a:srgbClr val="E63946"/>
          </a:solidFill>
          <a:ln w="12700">
            <a:solidFill>
              <a:srgbClr val="E63946"/>
            </a:solidFill>
            <a:prstDash val="solid"/>
          </a:ln>
        </p:spPr>
      </p:sp>
      <p:sp>
        <p:nvSpPr>
          <p:cNvPr id="9" name="Shape 7"/>
          <p:cNvSpPr/>
          <p:nvPr/>
        </p:nvSpPr>
        <p:spPr>
          <a:xfrm>
            <a:off x="502920" y="1965960"/>
            <a:ext cx="3657600" cy="347472"/>
          </a:xfrm>
          <a:prstGeom prst="rect">
            <a:avLst/>
          </a:prstGeom>
          <a:solidFill>
            <a:srgbClr val="FFF5F5"/>
          </a:solidFill>
          <a:ln w="12700">
            <a:solidFill>
              <a:srgbClr val="FECDD3"/>
            </a:solidFill>
            <a:prstDash val="solid"/>
          </a:ln>
        </p:spPr>
      </p:sp>
      <p:sp>
        <p:nvSpPr>
          <p:cNvPr id="10" name="Text 8"/>
          <p:cNvSpPr/>
          <p:nvPr/>
        </p:nvSpPr>
        <p:spPr>
          <a:xfrm>
            <a:off x="594360" y="1965960"/>
            <a:ext cx="3474720" cy="3474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Hepatitis</a:t>
            </a:r>
            <a:endParaRPr lang="en-US" sz="1250" dirty="0"/>
          </a:p>
        </p:txBody>
      </p:sp>
      <p:sp>
        <p:nvSpPr>
          <p:cNvPr id="11" name="Shape 9"/>
          <p:cNvSpPr/>
          <p:nvPr/>
        </p:nvSpPr>
        <p:spPr>
          <a:xfrm>
            <a:off x="274320" y="2468880"/>
            <a:ext cx="228600" cy="347472"/>
          </a:xfrm>
          <a:prstGeom prst="rect">
            <a:avLst/>
          </a:prstGeom>
          <a:solidFill>
            <a:srgbClr val="E63946"/>
          </a:solidFill>
          <a:ln w="12700">
            <a:solidFill>
              <a:srgbClr val="E63946"/>
            </a:solidFill>
            <a:prstDash val="solid"/>
          </a:ln>
        </p:spPr>
      </p:sp>
      <p:sp>
        <p:nvSpPr>
          <p:cNvPr id="12" name="Shape 10"/>
          <p:cNvSpPr/>
          <p:nvPr/>
        </p:nvSpPr>
        <p:spPr>
          <a:xfrm>
            <a:off x="502920" y="2468880"/>
            <a:ext cx="3657600" cy="347472"/>
          </a:xfrm>
          <a:prstGeom prst="rect">
            <a:avLst/>
          </a:prstGeom>
          <a:solidFill>
            <a:srgbClr val="FFF5F5"/>
          </a:solidFill>
          <a:ln w="12700">
            <a:solidFill>
              <a:srgbClr val="FECDD3"/>
            </a:solidFill>
            <a:prstDash val="solid"/>
          </a:ln>
        </p:spPr>
      </p:sp>
      <p:sp>
        <p:nvSpPr>
          <p:cNvPr id="13" name="Text 11"/>
          <p:cNvSpPr/>
          <p:nvPr/>
        </p:nvSpPr>
        <p:spPr>
          <a:xfrm>
            <a:off x="594360" y="2468880"/>
            <a:ext cx="3474720" cy="3474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Hypertransaminasaemia</a:t>
            </a:r>
            <a:endParaRPr lang="en-US" sz="1250" dirty="0"/>
          </a:p>
        </p:txBody>
      </p:sp>
      <p:sp>
        <p:nvSpPr>
          <p:cNvPr id="14" name="Shape 12"/>
          <p:cNvSpPr/>
          <p:nvPr/>
        </p:nvSpPr>
        <p:spPr>
          <a:xfrm>
            <a:off x="274320" y="2971800"/>
            <a:ext cx="228600" cy="347472"/>
          </a:xfrm>
          <a:prstGeom prst="rect">
            <a:avLst/>
          </a:prstGeom>
          <a:solidFill>
            <a:srgbClr val="E63946"/>
          </a:solidFill>
          <a:ln w="12700">
            <a:solidFill>
              <a:srgbClr val="E63946"/>
            </a:solidFill>
            <a:prstDash val="solid"/>
          </a:ln>
        </p:spPr>
      </p:sp>
      <p:sp>
        <p:nvSpPr>
          <p:cNvPr id="15" name="Shape 13"/>
          <p:cNvSpPr/>
          <p:nvPr/>
        </p:nvSpPr>
        <p:spPr>
          <a:xfrm>
            <a:off x="502920" y="2971800"/>
            <a:ext cx="3657600" cy="347472"/>
          </a:xfrm>
          <a:prstGeom prst="rect">
            <a:avLst/>
          </a:prstGeom>
          <a:solidFill>
            <a:srgbClr val="FFF5F5"/>
          </a:solidFill>
          <a:ln w="12700">
            <a:solidFill>
              <a:srgbClr val="FECDD3"/>
            </a:solidFill>
            <a:prstDash val="solid"/>
          </a:ln>
        </p:spPr>
      </p:sp>
      <p:sp>
        <p:nvSpPr>
          <p:cNvPr id="16" name="Text 14"/>
          <p:cNvSpPr/>
          <p:nvPr/>
        </p:nvSpPr>
        <p:spPr>
          <a:xfrm>
            <a:off x="594360" y="2971800"/>
            <a:ext cx="3474720" cy="3474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ALT increased</a:t>
            </a:r>
            <a:endParaRPr lang="en-US" sz="1250" dirty="0"/>
          </a:p>
        </p:txBody>
      </p:sp>
      <p:sp>
        <p:nvSpPr>
          <p:cNvPr id="17" name="Shape 15"/>
          <p:cNvSpPr/>
          <p:nvPr/>
        </p:nvSpPr>
        <p:spPr>
          <a:xfrm>
            <a:off x="274320" y="3474720"/>
            <a:ext cx="228600" cy="347472"/>
          </a:xfrm>
          <a:prstGeom prst="rect">
            <a:avLst/>
          </a:prstGeom>
          <a:solidFill>
            <a:srgbClr val="E63946"/>
          </a:solidFill>
          <a:ln w="12700">
            <a:solidFill>
              <a:srgbClr val="E63946"/>
            </a:solidFill>
            <a:prstDash val="solid"/>
          </a:ln>
        </p:spPr>
      </p:sp>
      <p:sp>
        <p:nvSpPr>
          <p:cNvPr id="18" name="Shape 16"/>
          <p:cNvSpPr/>
          <p:nvPr/>
        </p:nvSpPr>
        <p:spPr>
          <a:xfrm>
            <a:off x="502920" y="3474720"/>
            <a:ext cx="3657600" cy="347472"/>
          </a:xfrm>
          <a:prstGeom prst="rect">
            <a:avLst/>
          </a:prstGeom>
          <a:solidFill>
            <a:srgbClr val="FFF5F5"/>
          </a:solidFill>
          <a:ln w="12700">
            <a:solidFill>
              <a:srgbClr val="FECDD3"/>
            </a:solidFill>
            <a:prstDash val="solid"/>
          </a:ln>
        </p:spPr>
      </p:sp>
      <p:sp>
        <p:nvSpPr>
          <p:cNvPr id="19" name="Text 17"/>
          <p:cNvSpPr/>
          <p:nvPr/>
        </p:nvSpPr>
        <p:spPr>
          <a:xfrm>
            <a:off x="594360" y="3474720"/>
            <a:ext cx="3474720" cy="347472"/>
          </a:xfrm>
          <a:prstGeom prst="rect">
            <a:avLst/>
          </a:prstGeom>
          <a:noFill/>
          <a:ln/>
        </p:spPr>
        <p:txBody>
          <a:bodyPr wrap="square" rtlCol="0" anchor="ctr"/>
          <a:lstStyle/>
          <a:p>
            <a:pPr marL="0" indent="0">
              <a:buNone/>
            </a:pPr>
            <a:r>
              <a:rPr lang="en-US" sz="1250" dirty="0">
                <a:solidFill>
                  <a:srgbClr val="1E293B"/>
                </a:solidFill>
                <a:latin typeface="Calibri" pitchFamily="34" charset="0"/>
                <a:ea typeface="Calibri" pitchFamily="34" charset="-122"/>
                <a:cs typeface="Calibri" pitchFamily="34" charset="-120"/>
              </a:rPr>
              <a:t>AST increased</a:t>
            </a:r>
            <a:endParaRPr lang="en-US" sz="1250" dirty="0"/>
          </a:p>
        </p:txBody>
      </p:sp>
      <p:sp>
        <p:nvSpPr>
          <p:cNvPr id="20" name="Shape 18"/>
          <p:cNvSpPr/>
          <p:nvPr/>
        </p:nvSpPr>
        <p:spPr>
          <a:xfrm>
            <a:off x="274320" y="4069080"/>
            <a:ext cx="3931920" cy="685800"/>
          </a:xfrm>
          <a:prstGeom prst="rect">
            <a:avLst/>
          </a:prstGeom>
          <a:solidFill>
            <a:srgbClr val="F0FDF4"/>
          </a:solidFill>
          <a:ln w="19050">
            <a:solidFill>
              <a:srgbClr val="86EFAC"/>
            </a:solidFill>
            <a:prstDash val="solid"/>
          </a:ln>
        </p:spPr>
      </p:sp>
      <p:sp>
        <p:nvSpPr>
          <p:cNvPr id="21" name="Text 19"/>
          <p:cNvSpPr/>
          <p:nvPr/>
        </p:nvSpPr>
        <p:spPr>
          <a:xfrm>
            <a:off x="457200" y="4114800"/>
            <a:ext cx="3657600" cy="594360"/>
          </a:xfrm>
          <a:prstGeom prst="rect">
            <a:avLst/>
          </a:prstGeom>
          <a:noFill/>
          <a:ln/>
        </p:spPr>
        <p:txBody>
          <a:bodyPr wrap="square" rtlCol="0" anchor="ctr"/>
          <a:lstStyle/>
          <a:p>
            <a:pPr marL="0" indent="0">
              <a:buNone/>
            </a:pPr>
            <a:r>
              <a:rPr lang="en-US" sz="1250" b="1" dirty="0">
                <a:solidFill>
                  <a:srgbClr val="2D6A4F"/>
                </a:solidFill>
                <a:latin typeface="Calibri" pitchFamily="34" charset="0"/>
                <a:ea typeface="Calibri" pitchFamily="34" charset="-122"/>
                <a:cs typeface="Calibri" pitchFamily="34" charset="-120"/>
              </a:rPr>
              <a:t>is_dili = 1  </a:t>
            </a:r>
            <a:r>
              <a:rPr lang="en-US" sz="1250" dirty="0">
                <a:solidFill>
                  <a:srgbClr val="1E293B"/>
                </a:solidFill>
                <a:latin typeface="Calibri" pitchFamily="34" charset="0"/>
                <a:ea typeface="Calibri" pitchFamily="34" charset="-122"/>
                <a:cs typeface="Calibri" pitchFamily="34" charset="-120"/>
              </a:rPr>
              <a:t>→ DILI case identified
</a:t>
            </a:r>
            <a:endParaRPr lang="en-US" sz="1250" dirty="0"/>
          </a:p>
          <a:p>
            <a:pPr marL="0" indent="0">
              <a:buNone/>
            </a:pPr>
            <a:r>
              <a:rPr lang="en-US" sz="1250" b="1" dirty="0">
                <a:solidFill>
                  <a:srgbClr val="64748B"/>
                </a:solidFill>
                <a:latin typeface="Calibri" pitchFamily="34" charset="0"/>
                <a:ea typeface="Calibri" pitchFamily="34" charset="-122"/>
                <a:cs typeface="Calibri" pitchFamily="34" charset="-120"/>
              </a:rPr>
              <a:t>is_dili = 0  </a:t>
            </a:r>
            <a:r>
              <a:rPr lang="en-US" sz="1250" dirty="0">
                <a:solidFill>
                  <a:srgbClr val="1E293B"/>
                </a:solidFill>
                <a:latin typeface="Calibri" pitchFamily="34" charset="0"/>
                <a:ea typeface="Calibri" pitchFamily="34" charset="-122"/>
                <a:cs typeface="Calibri" pitchFamily="34" charset="-120"/>
              </a:rPr>
              <a:t>→ Non-DILI / background case</a:t>
            </a:r>
            <a:endParaRPr lang="en-US" sz="1250" dirty="0"/>
          </a:p>
        </p:txBody>
      </p:sp>
      <p:sp>
        <p:nvSpPr>
          <p:cNvPr id="22" name="Text 20"/>
          <p:cNvSpPr/>
          <p:nvPr/>
        </p:nvSpPr>
        <p:spPr>
          <a:xfrm>
            <a:off x="4663440" y="1051560"/>
            <a:ext cx="4114800" cy="365760"/>
          </a:xfrm>
          <a:prstGeom prst="rect">
            <a:avLst/>
          </a:prstGeom>
          <a:noFill/>
          <a:ln/>
        </p:spPr>
        <p:txBody>
          <a:bodyPr wrap="square" rtlCol="0" anchor="ctr"/>
          <a:lstStyle/>
          <a:p>
            <a:pPr marL="0" indent="0">
              <a:buNone/>
            </a:pPr>
            <a:r>
              <a:rPr lang="en-US" sz="1300" b="1" dirty="0">
                <a:solidFill>
                  <a:srgbClr val="0B2447"/>
                </a:solidFill>
                <a:latin typeface="Trebuchet MS" pitchFamily="34" charset="0"/>
                <a:ea typeface="Trebuchet MS" pitchFamily="34" charset="-122"/>
                <a:cs typeface="Trebuchet MS" pitchFamily="34" charset="-120"/>
              </a:rPr>
              <a:t>Case vs Non-Case Framework</a:t>
            </a:r>
            <a:endParaRPr lang="en-US" sz="1300" dirty="0"/>
          </a:p>
        </p:txBody>
      </p:sp>
      <p:sp>
        <p:nvSpPr>
          <p:cNvPr id="23" name="Shape 21"/>
          <p:cNvSpPr/>
          <p:nvPr/>
        </p:nvSpPr>
        <p:spPr>
          <a:xfrm>
            <a:off x="4663440" y="1508760"/>
            <a:ext cx="4114800" cy="1188720"/>
          </a:xfrm>
          <a:prstGeom prst="rect">
            <a:avLst/>
          </a:prstGeom>
          <a:solidFill>
            <a:srgbClr val="FFF5F5"/>
          </a:solidFill>
          <a:ln w="25400">
            <a:solidFill>
              <a:srgbClr val="E63946"/>
            </a:solidFill>
            <a:prstDash val="solid"/>
          </a:ln>
          <a:effectLst>
            <a:outerShdw blurRad="50800" dist="25400" dir="8100000" algn="bl" rotWithShape="0">
              <a:srgbClr val="000000">
                <a:alpha val="10000"/>
              </a:srgbClr>
            </a:outerShdw>
          </a:effectLst>
        </p:spPr>
      </p:sp>
      <p:sp>
        <p:nvSpPr>
          <p:cNvPr id="24" name="Text 22"/>
          <p:cNvSpPr/>
          <p:nvPr/>
        </p:nvSpPr>
        <p:spPr>
          <a:xfrm>
            <a:off x="4663440" y="1508760"/>
            <a:ext cx="4114800" cy="411480"/>
          </a:xfrm>
          <a:prstGeom prst="rect">
            <a:avLst/>
          </a:prstGeom>
          <a:noFill/>
          <a:ln/>
        </p:spPr>
        <p:txBody>
          <a:bodyPr wrap="square" rtlCol="0" anchor="ctr"/>
          <a:lstStyle/>
          <a:p>
            <a:pPr marL="0" indent="0" algn="ctr">
              <a:buNone/>
            </a:pPr>
            <a:r>
              <a:rPr lang="en-US" sz="1600" b="1" dirty="0">
                <a:solidFill>
                  <a:srgbClr val="E63946"/>
                </a:solidFill>
                <a:latin typeface="Trebuchet MS" pitchFamily="34" charset="0"/>
                <a:ea typeface="Trebuchet MS" pitchFamily="34" charset="-122"/>
                <a:cs typeface="Trebuchet MS" pitchFamily="34" charset="-120"/>
              </a:rPr>
              <a:t>CASE</a:t>
            </a:r>
            <a:endParaRPr lang="en-US" sz="1600" dirty="0"/>
          </a:p>
        </p:txBody>
      </p:sp>
      <p:sp>
        <p:nvSpPr>
          <p:cNvPr id="25" name="Text 23"/>
          <p:cNvSpPr/>
          <p:nvPr/>
        </p:nvSpPr>
        <p:spPr>
          <a:xfrm>
            <a:off x="4800600" y="1920240"/>
            <a:ext cx="3749040" cy="685800"/>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Reports containing DILI-related MedDRA terms</a:t>
            </a:r>
            <a:endParaRPr lang="en-US" sz="1150" dirty="0"/>
          </a:p>
          <a:p>
            <a:pPr marL="0" indent="0" algn="ctr">
              <a:buNone/>
            </a:pPr>
            <a:r>
              <a:rPr lang="en-US" sz="1150" dirty="0">
                <a:solidFill>
                  <a:srgbClr val="1E293B"/>
                </a:solidFill>
                <a:latin typeface="Calibri" pitchFamily="34" charset="0"/>
                <a:ea typeface="Calibri" pitchFamily="34" charset="-122"/>
                <a:cs typeface="Calibri" pitchFamily="34" charset="-120"/>
              </a:rPr>
              <a:t>Used as numerator in ROR calculation</a:t>
            </a:r>
            <a:endParaRPr lang="en-US" sz="1150" dirty="0"/>
          </a:p>
        </p:txBody>
      </p:sp>
      <p:sp>
        <p:nvSpPr>
          <p:cNvPr id="26" name="Shape 24"/>
          <p:cNvSpPr/>
          <p:nvPr/>
        </p:nvSpPr>
        <p:spPr>
          <a:xfrm>
            <a:off x="6629400" y="2743200"/>
            <a:ext cx="36576" cy="320040"/>
          </a:xfrm>
          <a:prstGeom prst="rect">
            <a:avLst/>
          </a:prstGeom>
          <a:solidFill>
            <a:srgbClr val="64748B"/>
          </a:solidFill>
          <a:ln w="12700">
            <a:solidFill>
              <a:srgbClr val="64748B"/>
            </a:solidFill>
            <a:prstDash val="solid"/>
          </a:ln>
        </p:spPr>
      </p:sp>
      <p:sp>
        <p:nvSpPr>
          <p:cNvPr id="27" name="Shape 25"/>
          <p:cNvSpPr/>
          <p:nvPr/>
        </p:nvSpPr>
        <p:spPr>
          <a:xfrm>
            <a:off x="4663440" y="3063240"/>
            <a:ext cx="4114800" cy="1188720"/>
          </a:xfrm>
          <a:prstGeom prst="rect">
            <a:avLst/>
          </a:prstGeom>
          <a:solidFill>
            <a:srgbClr val="F0F9FF"/>
          </a:solidFill>
          <a:ln w="25400">
            <a:solidFill>
              <a:srgbClr val="0096C7"/>
            </a:solidFill>
            <a:prstDash val="solid"/>
          </a:ln>
          <a:effectLst>
            <a:outerShdw blurRad="50800" dist="25400" dir="8100000" algn="bl" rotWithShape="0">
              <a:srgbClr val="000000">
                <a:alpha val="10000"/>
              </a:srgbClr>
            </a:outerShdw>
          </a:effectLst>
        </p:spPr>
      </p:sp>
      <p:sp>
        <p:nvSpPr>
          <p:cNvPr id="28" name="Text 26"/>
          <p:cNvSpPr/>
          <p:nvPr/>
        </p:nvSpPr>
        <p:spPr>
          <a:xfrm>
            <a:off x="4663440" y="3063240"/>
            <a:ext cx="4114800" cy="411480"/>
          </a:xfrm>
          <a:prstGeom prst="rect">
            <a:avLst/>
          </a:prstGeom>
          <a:noFill/>
          <a:ln/>
        </p:spPr>
        <p:txBody>
          <a:bodyPr wrap="square" rtlCol="0" anchor="ctr"/>
          <a:lstStyle/>
          <a:p>
            <a:pPr marL="0" indent="0" algn="ctr">
              <a:buNone/>
            </a:pPr>
            <a:r>
              <a:rPr lang="en-US" sz="1600" b="1" dirty="0">
                <a:solidFill>
                  <a:srgbClr val="0096C7"/>
                </a:solidFill>
                <a:latin typeface="Trebuchet MS" pitchFamily="34" charset="0"/>
                <a:ea typeface="Trebuchet MS" pitchFamily="34" charset="-122"/>
                <a:cs typeface="Trebuchet MS" pitchFamily="34" charset="-120"/>
              </a:rPr>
              <a:t>NON-CASE</a:t>
            </a:r>
            <a:endParaRPr lang="en-US" sz="1600" dirty="0"/>
          </a:p>
        </p:txBody>
      </p:sp>
      <p:sp>
        <p:nvSpPr>
          <p:cNvPr id="29" name="Text 27"/>
          <p:cNvSpPr/>
          <p:nvPr/>
        </p:nvSpPr>
        <p:spPr>
          <a:xfrm>
            <a:off x="4800600" y="3474720"/>
            <a:ext cx="3749040" cy="685800"/>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Reports without DILI — serve as background reference</a:t>
            </a:r>
            <a:endParaRPr lang="en-US" sz="1150" dirty="0"/>
          </a:p>
          <a:p>
            <a:pPr marL="0" indent="0" algn="ctr">
              <a:buNone/>
            </a:pPr>
            <a:r>
              <a:rPr lang="en-US" sz="1150" dirty="0">
                <a:solidFill>
                  <a:srgbClr val="1E293B"/>
                </a:solidFill>
                <a:latin typeface="Calibri" pitchFamily="34" charset="0"/>
                <a:ea typeface="Calibri" pitchFamily="34" charset="-122"/>
                <a:cs typeface="Calibri" pitchFamily="34" charset="-120"/>
              </a:rPr>
              <a:t>Required for disproportionality analysis</a:t>
            </a:r>
            <a:endParaRPr lang="en-US" sz="1150" dirty="0"/>
          </a:p>
        </p:txBody>
      </p:sp>
      <p:sp>
        <p:nvSpPr>
          <p:cNvPr id="30" name="Shape 28"/>
          <p:cNvSpPr/>
          <p:nvPr/>
        </p:nvSpPr>
        <p:spPr>
          <a:xfrm>
            <a:off x="0" y="4983480"/>
            <a:ext cx="9144000" cy="164592"/>
          </a:xfrm>
          <a:prstGeom prst="rect">
            <a:avLst/>
          </a:prstGeom>
          <a:solidFill>
            <a:srgbClr val="0B2447"/>
          </a:solidFill>
          <a:ln w="12700">
            <a:solidFill>
              <a:srgbClr val="0B2447"/>
            </a:solidFill>
            <a:prstDash val="solid"/>
          </a:ln>
        </p:spPr>
      </p:sp>
      <p:sp>
        <p:nvSpPr>
          <p:cNvPr id="31" name="Text 29"/>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412480" cy="685800"/>
          </a:xfrm>
          <a:prstGeom prst="rect">
            <a:avLst/>
          </a:prstGeom>
          <a:noFill/>
          <a:ln/>
        </p:spPr>
        <p:txBody>
          <a:bodyPr wrap="square"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Statistical Method: Reporting Odds Ratio (ROR)</a:t>
            </a:r>
            <a:endParaRPr lang="en-US" sz="2400" dirty="0"/>
          </a:p>
        </p:txBody>
      </p:sp>
      <p:sp>
        <p:nvSpPr>
          <p:cNvPr id="4" name="Shape 2"/>
          <p:cNvSpPr/>
          <p:nvPr/>
        </p:nvSpPr>
        <p:spPr>
          <a:xfrm>
            <a:off x="274320" y="1097280"/>
            <a:ext cx="8595360" cy="1417320"/>
          </a:xfrm>
          <a:prstGeom prst="rect">
            <a:avLst/>
          </a:prstGeom>
          <a:solidFill>
            <a:srgbClr val="0B2447"/>
          </a:solidFill>
          <a:ln w="25400">
            <a:solidFill>
              <a:srgbClr val="0096C7"/>
            </a:solidFill>
            <a:prstDash val="solid"/>
          </a:ln>
          <a:effectLst>
            <a:outerShdw blurRad="101600" dist="50800" dir="8100000" algn="bl" rotWithShape="0">
              <a:srgbClr val="000000">
                <a:alpha val="20000"/>
              </a:srgbClr>
            </a:outerShdw>
          </a:effectLst>
        </p:spPr>
      </p:sp>
      <p:sp>
        <p:nvSpPr>
          <p:cNvPr id="5" name="Text 3"/>
          <p:cNvSpPr/>
          <p:nvPr/>
        </p:nvSpPr>
        <p:spPr>
          <a:xfrm>
            <a:off x="274320" y="1188720"/>
            <a:ext cx="8595360" cy="685800"/>
          </a:xfrm>
          <a:prstGeom prst="rect">
            <a:avLst/>
          </a:prstGeom>
          <a:noFill/>
          <a:ln/>
        </p:spPr>
        <p:txBody>
          <a:bodyPr wrap="square" rtlCol="0" anchor="ctr"/>
          <a:lstStyle/>
          <a:p>
            <a:pPr marL="0" indent="0" algn="ctr">
              <a:buNone/>
            </a:pPr>
            <a:r>
              <a:rPr lang="en-US" sz="2600" b="1" dirty="0">
                <a:solidFill>
                  <a:srgbClr val="F4A261"/>
                </a:solidFill>
                <a:latin typeface="Consolas" pitchFamily="34" charset="0"/>
                <a:ea typeface="Consolas" pitchFamily="34" charset="-122"/>
                <a:cs typeface="Consolas" pitchFamily="34" charset="-120"/>
              </a:rPr>
              <a:t>ROR  =  ( a / c )  ÷  ( b / d )</a:t>
            </a:r>
            <a:endParaRPr lang="en-US" sz="2600" dirty="0"/>
          </a:p>
        </p:txBody>
      </p:sp>
      <p:sp>
        <p:nvSpPr>
          <p:cNvPr id="6" name="Text 4"/>
          <p:cNvSpPr/>
          <p:nvPr/>
        </p:nvSpPr>
        <p:spPr>
          <a:xfrm>
            <a:off x="274320" y="1874520"/>
            <a:ext cx="8595360" cy="502920"/>
          </a:xfrm>
          <a:prstGeom prst="rect">
            <a:avLst/>
          </a:prstGeom>
          <a:noFill/>
          <a:ln/>
        </p:spPr>
        <p:txBody>
          <a:bodyPr wrap="square" rtlCol="0" anchor="ctr"/>
          <a:lstStyle/>
          <a:p>
            <a:pPr marL="0" indent="0" algn="ctr">
              <a:buNone/>
            </a:pPr>
            <a:r>
              <a:rPr lang="en-US" sz="1200" dirty="0">
                <a:solidFill>
                  <a:srgbClr val="B0C4DE"/>
                </a:solidFill>
                <a:latin typeface="Calibri" pitchFamily="34" charset="0"/>
                <a:ea typeface="Calibri" pitchFamily="34" charset="-122"/>
                <a:cs typeface="Calibri" pitchFamily="34" charset="-120"/>
              </a:rPr>
              <a:t>Reporting Odds Ratio – Disproportionality Analysis Formula</a:t>
            </a:r>
            <a:endParaRPr lang="en-US" sz="1200" dirty="0"/>
          </a:p>
        </p:txBody>
      </p:sp>
      <p:sp>
        <p:nvSpPr>
          <p:cNvPr id="7" name="Shape 5"/>
          <p:cNvSpPr/>
          <p:nvPr/>
        </p:nvSpPr>
        <p:spPr>
          <a:xfrm>
            <a:off x="365760" y="2743200"/>
            <a:ext cx="502920" cy="457200"/>
          </a:xfrm>
          <a:prstGeom prst="rect">
            <a:avLst/>
          </a:prstGeom>
          <a:solidFill>
            <a:srgbClr val="0096C7"/>
          </a:solidFill>
          <a:ln w="12700">
            <a:solidFill>
              <a:srgbClr val="0096C7"/>
            </a:solidFill>
            <a:prstDash val="solid"/>
          </a:ln>
        </p:spPr>
      </p:sp>
      <p:sp>
        <p:nvSpPr>
          <p:cNvPr id="8" name="Text 6"/>
          <p:cNvSpPr/>
          <p:nvPr/>
        </p:nvSpPr>
        <p:spPr>
          <a:xfrm>
            <a:off x="365760" y="2743200"/>
            <a:ext cx="50292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a</a:t>
            </a:r>
            <a:endParaRPr lang="en-US" sz="1800" dirty="0"/>
          </a:p>
        </p:txBody>
      </p:sp>
      <p:sp>
        <p:nvSpPr>
          <p:cNvPr id="9" name="Shape 7"/>
          <p:cNvSpPr/>
          <p:nvPr/>
        </p:nvSpPr>
        <p:spPr>
          <a:xfrm>
            <a:off x="868680" y="2743200"/>
            <a:ext cx="3977640" cy="457200"/>
          </a:xfrm>
          <a:prstGeom prst="rect">
            <a:avLst/>
          </a:prstGeom>
          <a:solidFill>
            <a:srgbClr val="F1F5F9"/>
          </a:solidFill>
          <a:ln w="12700">
            <a:solidFill>
              <a:srgbClr val="D1D5DB"/>
            </a:solidFill>
            <a:prstDash val="solid"/>
          </a:ln>
        </p:spPr>
      </p:sp>
      <p:sp>
        <p:nvSpPr>
          <p:cNvPr id="10" name="Text 8"/>
          <p:cNvSpPr/>
          <p:nvPr/>
        </p:nvSpPr>
        <p:spPr>
          <a:xfrm>
            <a:off x="960120" y="2743200"/>
            <a:ext cx="38404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DILI cases for the drug</a:t>
            </a:r>
            <a:endParaRPr lang="en-US" sz="1200" dirty="0"/>
          </a:p>
        </p:txBody>
      </p:sp>
      <p:sp>
        <p:nvSpPr>
          <p:cNvPr id="11" name="Shape 9"/>
          <p:cNvSpPr/>
          <p:nvPr/>
        </p:nvSpPr>
        <p:spPr>
          <a:xfrm>
            <a:off x="4663440" y="2743200"/>
            <a:ext cx="502920" cy="457200"/>
          </a:xfrm>
          <a:prstGeom prst="rect">
            <a:avLst/>
          </a:prstGeom>
          <a:solidFill>
            <a:srgbClr val="0096C7"/>
          </a:solidFill>
          <a:ln w="12700">
            <a:solidFill>
              <a:srgbClr val="0096C7"/>
            </a:solidFill>
            <a:prstDash val="solid"/>
          </a:ln>
        </p:spPr>
      </p:sp>
      <p:sp>
        <p:nvSpPr>
          <p:cNvPr id="12" name="Text 10"/>
          <p:cNvSpPr/>
          <p:nvPr/>
        </p:nvSpPr>
        <p:spPr>
          <a:xfrm>
            <a:off x="4663440" y="2743200"/>
            <a:ext cx="50292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b</a:t>
            </a:r>
            <a:endParaRPr lang="en-US" sz="1800" dirty="0"/>
          </a:p>
        </p:txBody>
      </p:sp>
      <p:sp>
        <p:nvSpPr>
          <p:cNvPr id="13" name="Shape 11"/>
          <p:cNvSpPr/>
          <p:nvPr/>
        </p:nvSpPr>
        <p:spPr>
          <a:xfrm>
            <a:off x="5166360" y="2743200"/>
            <a:ext cx="3977640" cy="457200"/>
          </a:xfrm>
          <a:prstGeom prst="rect">
            <a:avLst/>
          </a:prstGeom>
          <a:solidFill>
            <a:srgbClr val="F1F5F9"/>
          </a:solidFill>
          <a:ln w="12700">
            <a:solidFill>
              <a:srgbClr val="D1D5DB"/>
            </a:solidFill>
            <a:prstDash val="solid"/>
          </a:ln>
        </p:spPr>
      </p:sp>
      <p:sp>
        <p:nvSpPr>
          <p:cNvPr id="14" name="Text 12"/>
          <p:cNvSpPr/>
          <p:nvPr/>
        </p:nvSpPr>
        <p:spPr>
          <a:xfrm>
            <a:off x="5257800" y="2743200"/>
            <a:ext cx="38404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Non-DILI cases for the drug</a:t>
            </a:r>
            <a:endParaRPr lang="en-US" sz="1200" dirty="0"/>
          </a:p>
        </p:txBody>
      </p:sp>
      <p:sp>
        <p:nvSpPr>
          <p:cNvPr id="15" name="Shape 13"/>
          <p:cNvSpPr/>
          <p:nvPr/>
        </p:nvSpPr>
        <p:spPr>
          <a:xfrm>
            <a:off x="365760" y="3429000"/>
            <a:ext cx="502920" cy="457200"/>
          </a:xfrm>
          <a:prstGeom prst="rect">
            <a:avLst/>
          </a:prstGeom>
          <a:solidFill>
            <a:srgbClr val="0096C7"/>
          </a:solidFill>
          <a:ln w="12700">
            <a:solidFill>
              <a:srgbClr val="0096C7"/>
            </a:solidFill>
            <a:prstDash val="solid"/>
          </a:ln>
        </p:spPr>
      </p:sp>
      <p:sp>
        <p:nvSpPr>
          <p:cNvPr id="16" name="Text 14"/>
          <p:cNvSpPr/>
          <p:nvPr/>
        </p:nvSpPr>
        <p:spPr>
          <a:xfrm>
            <a:off x="365760" y="3429000"/>
            <a:ext cx="50292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c</a:t>
            </a:r>
            <a:endParaRPr lang="en-US" sz="1800" dirty="0"/>
          </a:p>
        </p:txBody>
      </p:sp>
      <p:sp>
        <p:nvSpPr>
          <p:cNvPr id="17" name="Shape 15"/>
          <p:cNvSpPr/>
          <p:nvPr/>
        </p:nvSpPr>
        <p:spPr>
          <a:xfrm>
            <a:off x="868680" y="3429000"/>
            <a:ext cx="3977640" cy="457200"/>
          </a:xfrm>
          <a:prstGeom prst="rect">
            <a:avLst/>
          </a:prstGeom>
          <a:solidFill>
            <a:srgbClr val="F1F5F9"/>
          </a:solidFill>
          <a:ln w="12700">
            <a:solidFill>
              <a:srgbClr val="D1D5DB"/>
            </a:solidFill>
            <a:prstDash val="solid"/>
          </a:ln>
        </p:spPr>
      </p:sp>
      <p:sp>
        <p:nvSpPr>
          <p:cNvPr id="18" name="Text 16"/>
          <p:cNvSpPr/>
          <p:nvPr/>
        </p:nvSpPr>
        <p:spPr>
          <a:xfrm>
            <a:off x="960120" y="3429000"/>
            <a:ext cx="38404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DILI cases for all other drugs</a:t>
            </a:r>
            <a:endParaRPr lang="en-US" sz="1200" dirty="0"/>
          </a:p>
        </p:txBody>
      </p:sp>
      <p:sp>
        <p:nvSpPr>
          <p:cNvPr id="19" name="Shape 17"/>
          <p:cNvSpPr/>
          <p:nvPr/>
        </p:nvSpPr>
        <p:spPr>
          <a:xfrm>
            <a:off x="4663440" y="3429000"/>
            <a:ext cx="502920" cy="457200"/>
          </a:xfrm>
          <a:prstGeom prst="rect">
            <a:avLst/>
          </a:prstGeom>
          <a:solidFill>
            <a:srgbClr val="0096C7"/>
          </a:solidFill>
          <a:ln w="12700">
            <a:solidFill>
              <a:srgbClr val="0096C7"/>
            </a:solidFill>
            <a:prstDash val="solid"/>
          </a:ln>
        </p:spPr>
      </p:sp>
      <p:sp>
        <p:nvSpPr>
          <p:cNvPr id="20" name="Text 18"/>
          <p:cNvSpPr/>
          <p:nvPr/>
        </p:nvSpPr>
        <p:spPr>
          <a:xfrm>
            <a:off x="4663440" y="3429000"/>
            <a:ext cx="502920" cy="457200"/>
          </a:xfrm>
          <a:prstGeom prst="rect">
            <a:avLst/>
          </a:prstGeom>
          <a:noFill/>
          <a:ln/>
        </p:spPr>
        <p:txBody>
          <a:bodyPr wrap="square"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d</a:t>
            </a:r>
            <a:endParaRPr lang="en-US" sz="1800" dirty="0"/>
          </a:p>
        </p:txBody>
      </p:sp>
      <p:sp>
        <p:nvSpPr>
          <p:cNvPr id="21" name="Shape 19"/>
          <p:cNvSpPr/>
          <p:nvPr/>
        </p:nvSpPr>
        <p:spPr>
          <a:xfrm>
            <a:off x="5166360" y="3429000"/>
            <a:ext cx="3977640" cy="457200"/>
          </a:xfrm>
          <a:prstGeom prst="rect">
            <a:avLst/>
          </a:prstGeom>
          <a:solidFill>
            <a:srgbClr val="F1F5F9"/>
          </a:solidFill>
          <a:ln w="12700">
            <a:solidFill>
              <a:srgbClr val="D1D5DB"/>
            </a:solidFill>
            <a:prstDash val="solid"/>
          </a:ln>
        </p:spPr>
      </p:sp>
      <p:sp>
        <p:nvSpPr>
          <p:cNvPr id="22" name="Text 20"/>
          <p:cNvSpPr/>
          <p:nvPr/>
        </p:nvSpPr>
        <p:spPr>
          <a:xfrm>
            <a:off x="5257800" y="3429000"/>
            <a:ext cx="3840480" cy="4572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Non-DILI cases for all other drugs</a:t>
            </a:r>
            <a:endParaRPr lang="en-US" sz="1200" dirty="0"/>
          </a:p>
        </p:txBody>
      </p:sp>
      <p:sp>
        <p:nvSpPr>
          <p:cNvPr id="23" name="Shape 21"/>
          <p:cNvSpPr/>
          <p:nvPr/>
        </p:nvSpPr>
        <p:spPr>
          <a:xfrm>
            <a:off x="274320" y="4206240"/>
            <a:ext cx="4114800" cy="640080"/>
          </a:xfrm>
          <a:prstGeom prst="rect">
            <a:avLst/>
          </a:prstGeom>
          <a:solidFill>
            <a:srgbClr val="F0FDF4"/>
          </a:solidFill>
          <a:ln w="12700">
            <a:solidFill>
              <a:srgbClr val="86EFAC"/>
            </a:solidFill>
            <a:prstDash val="solid"/>
          </a:ln>
        </p:spPr>
      </p:sp>
      <p:sp>
        <p:nvSpPr>
          <p:cNvPr id="24" name="Text 22"/>
          <p:cNvSpPr/>
          <p:nvPr/>
        </p:nvSpPr>
        <p:spPr>
          <a:xfrm>
            <a:off x="457200" y="4251960"/>
            <a:ext cx="3840480" cy="530352"/>
          </a:xfrm>
          <a:prstGeom prst="rect">
            <a:avLst/>
          </a:prstGeom>
          <a:noFill/>
          <a:ln/>
        </p:spPr>
        <p:txBody>
          <a:bodyPr wrap="square" rtlCol="0" anchor="ctr"/>
          <a:lstStyle/>
          <a:p>
            <a:pPr marL="0" indent="0">
              <a:buNone/>
            </a:pPr>
            <a:r>
              <a:rPr lang="en-US" sz="1250" b="1" dirty="0">
                <a:solidFill>
                  <a:srgbClr val="2D6A4F"/>
                </a:solidFill>
                <a:latin typeface="Calibri" pitchFamily="34" charset="0"/>
                <a:ea typeface="Calibri" pitchFamily="34" charset="-122"/>
                <a:cs typeface="Calibri" pitchFamily="34" charset="-120"/>
              </a:rPr>
              <a:t>ROR &gt; 1  →  Potential safety signal detected</a:t>
            </a:r>
            <a:endParaRPr lang="en-US" sz="1250" dirty="0"/>
          </a:p>
        </p:txBody>
      </p:sp>
      <p:sp>
        <p:nvSpPr>
          <p:cNvPr id="25" name="Shape 23"/>
          <p:cNvSpPr/>
          <p:nvPr/>
        </p:nvSpPr>
        <p:spPr>
          <a:xfrm>
            <a:off x="4754880" y="4206240"/>
            <a:ext cx="4114800" cy="640080"/>
          </a:xfrm>
          <a:prstGeom prst="rect">
            <a:avLst/>
          </a:prstGeom>
          <a:solidFill>
            <a:srgbClr val="FFF7ED"/>
          </a:solidFill>
          <a:ln w="12700">
            <a:solidFill>
              <a:srgbClr val="FED7AA"/>
            </a:solidFill>
            <a:prstDash val="solid"/>
          </a:ln>
        </p:spPr>
      </p:sp>
      <p:sp>
        <p:nvSpPr>
          <p:cNvPr id="26" name="Text 24"/>
          <p:cNvSpPr/>
          <p:nvPr/>
        </p:nvSpPr>
        <p:spPr>
          <a:xfrm>
            <a:off x="4937760" y="4251960"/>
            <a:ext cx="3840480" cy="530352"/>
          </a:xfrm>
          <a:prstGeom prst="rect">
            <a:avLst/>
          </a:prstGeom>
          <a:noFill/>
          <a:ln/>
        </p:spPr>
        <p:txBody>
          <a:bodyPr wrap="square" rtlCol="0" anchor="ctr"/>
          <a:lstStyle/>
          <a:p>
            <a:pPr marL="0" indent="0">
              <a:buNone/>
            </a:pPr>
            <a:r>
              <a:rPr lang="en-US" sz="1250" b="1" dirty="0">
                <a:solidFill>
                  <a:srgbClr val="92400E"/>
                </a:solidFill>
                <a:latin typeface="Calibri" pitchFamily="34" charset="0"/>
                <a:ea typeface="Calibri" pitchFamily="34" charset="-122"/>
                <a:cs typeface="Calibri" pitchFamily="34" charset="-120"/>
              </a:rPr>
              <a:t>Higher ROR  →  Stronger disproportional association</a:t>
            </a:r>
            <a:endParaRPr lang="en-US" sz="1250" dirty="0"/>
          </a:p>
        </p:txBody>
      </p:sp>
      <p:sp>
        <p:nvSpPr>
          <p:cNvPr id="27" name="Shape 25"/>
          <p:cNvSpPr/>
          <p:nvPr/>
        </p:nvSpPr>
        <p:spPr>
          <a:xfrm>
            <a:off x="0" y="4983480"/>
            <a:ext cx="9144000" cy="164592"/>
          </a:xfrm>
          <a:prstGeom prst="rect">
            <a:avLst/>
          </a:prstGeom>
          <a:solidFill>
            <a:srgbClr val="0B2447"/>
          </a:solidFill>
          <a:ln w="12700">
            <a:solidFill>
              <a:srgbClr val="0B2447"/>
            </a:solidFill>
            <a:prstDash val="solid"/>
          </a:ln>
        </p:spPr>
      </p:sp>
      <p:sp>
        <p:nvSpPr>
          <p:cNvPr id="28" name="Text 26"/>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Key Findings — Dashboard Summary</a:t>
            </a:r>
            <a:endParaRPr lang="en-US" sz="2600" dirty="0"/>
          </a:p>
        </p:txBody>
      </p:sp>
      <p:sp>
        <p:nvSpPr>
          <p:cNvPr id="4" name="Shape 2"/>
          <p:cNvSpPr/>
          <p:nvPr/>
        </p:nvSpPr>
        <p:spPr>
          <a:xfrm>
            <a:off x="137160" y="1097280"/>
            <a:ext cx="1645920" cy="1097280"/>
          </a:xfrm>
          <a:prstGeom prst="rect">
            <a:avLst/>
          </a:prstGeom>
          <a:solidFill>
            <a:srgbClr val="0B2447"/>
          </a:solidFill>
          <a:ln w="12700">
            <a:solidFill>
              <a:srgbClr val="0B2447"/>
            </a:solidFill>
            <a:prstDash val="solid"/>
          </a:ln>
          <a:effectLst>
            <a:outerShdw blurRad="63500" dist="25400" dir="8100000" algn="bl" rotWithShape="0">
              <a:srgbClr val="000000">
                <a:alpha val="20000"/>
              </a:srgbClr>
            </a:outerShdw>
          </a:effectLst>
        </p:spPr>
      </p:sp>
      <p:sp>
        <p:nvSpPr>
          <p:cNvPr id="5" name="Text 3"/>
          <p:cNvSpPr/>
          <p:nvPr/>
        </p:nvSpPr>
        <p:spPr>
          <a:xfrm>
            <a:off x="137160" y="1170432"/>
            <a:ext cx="1645920" cy="594360"/>
          </a:xfrm>
          <a:prstGeom prst="rect">
            <a:avLst/>
          </a:prstGeom>
          <a:noFill/>
          <a:ln/>
        </p:spPr>
        <p:txBody>
          <a:bodyPr wrap="square" rtlCol="0" anchor="ctr"/>
          <a:lstStyle/>
          <a:p>
            <a:pPr marL="0" indent="0" algn="ctr">
              <a:buNone/>
            </a:pPr>
            <a:r>
              <a:rPr lang="en-US" sz="2400" b="1" dirty="0">
                <a:solidFill>
                  <a:srgbClr val="F4A261"/>
                </a:solidFill>
                <a:latin typeface="Trebuchet MS" pitchFamily="34" charset="0"/>
                <a:ea typeface="Trebuchet MS" pitchFamily="34" charset="-122"/>
                <a:cs typeface="Trebuchet MS" pitchFamily="34" charset="-120"/>
              </a:rPr>
              <a:t>28K</a:t>
            </a:r>
            <a:endParaRPr lang="en-US" sz="2400" dirty="0"/>
          </a:p>
        </p:txBody>
      </p:sp>
      <p:sp>
        <p:nvSpPr>
          <p:cNvPr id="6" name="Text 4"/>
          <p:cNvSpPr/>
          <p:nvPr/>
        </p:nvSpPr>
        <p:spPr>
          <a:xfrm>
            <a:off x="137160" y="1737360"/>
            <a:ext cx="1645920" cy="36576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Total DILI Cases</a:t>
            </a:r>
            <a:endParaRPr lang="en-US" sz="1000" dirty="0"/>
          </a:p>
        </p:txBody>
      </p:sp>
      <p:sp>
        <p:nvSpPr>
          <p:cNvPr id="7" name="Shape 5"/>
          <p:cNvSpPr/>
          <p:nvPr/>
        </p:nvSpPr>
        <p:spPr>
          <a:xfrm>
            <a:off x="1911096" y="1097280"/>
            <a:ext cx="1645920" cy="1097280"/>
          </a:xfrm>
          <a:prstGeom prst="rect">
            <a:avLst/>
          </a:prstGeom>
          <a:solidFill>
            <a:srgbClr val="19376D"/>
          </a:solidFill>
          <a:ln w="12700">
            <a:solidFill>
              <a:srgbClr val="19376D"/>
            </a:solidFill>
            <a:prstDash val="solid"/>
          </a:ln>
          <a:effectLst>
            <a:outerShdw blurRad="63500" dist="25400" dir="8100000" algn="bl" rotWithShape="0">
              <a:srgbClr val="000000">
                <a:alpha val="20000"/>
              </a:srgbClr>
            </a:outerShdw>
          </a:effectLst>
        </p:spPr>
      </p:sp>
      <p:sp>
        <p:nvSpPr>
          <p:cNvPr id="8" name="Text 6"/>
          <p:cNvSpPr/>
          <p:nvPr/>
        </p:nvSpPr>
        <p:spPr>
          <a:xfrm>
            <a:off x="1911096" y="1170432"/>
            <a:ext cx="1645920" cy="594360"/>
          </a:xfrm>
          <a:prstGeom prst="rect">
            <a:avLst/>
          </a:prstGeom>
          <a:noFill/>
          <a:ln/>
        </p:spPr>
        <p:txBody>
          <a:bodyPr wrap="square" rtlCol="0" anchor="ctr"/>
          <a:lstStyle/>
          <a:p>
            <a:pPr marL="0" indent="0" algn="ctr">
              <a:buNone/>
            </a:pPr>
            <a:r>
              <a:rPr lang="en-US" sz="2400" b="1" dirty="0">
                <a:solidFill>
                  <a:srgbClr val="F4A261"/>
                </a:solidFill>
                <a:latin typeface="Trebuchet MS" pitchFamily="34" charset="0"/>
                <a:ea typeface="Trebuchet MS" pitchFamily="34" charset="-122"/>
                <a:cs typeface="Trebuchet MS" pitchFamily="34" charset="-120"/>
              </a:rPr>
              <a:t>8K</a:t>
            </a:r>
            <a:endParaRPr lang="en-US" sz="2400" dirty="0"/>
          </a:p>
        </p:txBody>
      </p:sp>
      <p:sp>
        <p:nvSpPr>
          <p:cNvPr id="9" name="Text 7"/>
          <p:cNvSpPr/>
          <p:nvPr/>
        </p:nvSpPr>
        <p:spPr>
          <a:xfrm>
            <a:off x="1911096" y="1737360"/>
            <a:ext cx="1645920" cy="36576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Total Drugs</a:t>
            </a:r>
            <a:endParaRPr lang="en-US" sz="1000" dirty="0"/>
          </a:p>
        </p:txBody>
      </p:sp>
      <p:sp>
        <p:nvSpPr>
          <p:cNvPr id="10" name="Shape 8"/>
          <p:cNvSpPr/>
          <p:nvPr/>
        </p:nvSpPr>
        <p:spPr>
          <a:xfrm>
            <a:off x="3685032" y="1097280"/>
            <a:ext cx="1645920" cy="1097280"/>
          </a:xfrm>
          <a:prstGeom prst="rect">
            <a:avLst/>
          </a:prstGeom>
          <a:solidFill>
            <a:srgbClr val="1B6CA8"/>
          </a:solidFill>
          <a:ln w="12700">
            <a:solidFill>
              <a:srgbClr val="1B6CA8"/>
            </a:solidFill>
            <a:prstDash val="solid"/>
          </a:ln>
          <a:effectLst>
            <a:outerShdw blurRad="63500" dist="25400" dir="8100000" algn="bl" rotWithShape="0">
              <a:srgbClr val="000000">
                <a:alpha val="20000"/>
              </a:srgbClr>
            </a:outerShdw>
          </a:effectLst>
        </p:spPr>
      </p:sp>
      <p:sp>
        <p:nvSpPr>
          <p:cNvPr id="11" name="Text 9"/>
          <p:cNvSpPr/>
          <p:nvPr/>
        </p:nvSpPr>
        <p:spPr>
          <a:xfrm>
            <a:off x="3685032" y="1170432"/>
            <a:ext cx="1645920" cy="594360"/>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0.42</a:t>
            </a:r>
            <a:endParaRPr lang="en-US" sz="2400" dirty="0"/>
          </a:p>
        </p:txBody>
      </p:sp>
      <p:sp>
        <p:nvSpPr>
          <p:cNvPr id="12" name="Text 10"/>
          <p:cNvSpPr/>
          <p:nvPr/>
        </p:nvSpPr>
        <p:spPr>
          <a:xfrm>
            <a:off x="3685032" y="1737360"/>
            <a:ext cx="1645920" cy="36576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Serious Rate</a:t>
            </a:r>
            <a:endParaRPr lang="en-US" sz="1000" dirty="0"/>
          </a:p>
        </p:txBody>
      </p:sp>
      <p:sp>
        <p:nvSpPr>
          <p:cNvPr id="13" name="Shape 11"/>
          <p:cNvSpPr/>
          <p:nvPr/>
        </p:nvSpPr>
        <p:spPr>
          <a:xfrm>
            <a:off x="5458968" y="1097280"/>
            <a:ext cx="1645920" cy="1097280"/>
          </a:xfrm>
          <a:prstGeom prst="rect">
            <a:avLst/>
          </a:prstGeom>
          <a:solidFill>
            <a:srgbClr val="155E75"/>
          </a:solidFill>
          <a:ln w="12700">
            <a:solidFill>
              <a:srgbClr val="155E75"/>
            </a:solidFill>
            <a:prstDash val="solid"/>
          </a:ln>
          <a:effectLst>
            <a:outerShdw blurRad="63500" dist="25400" dir="8100000" algn="bl" rotWithShape="0">
              <a:srgbClr val="000000">
                <a:alpha val="20000"/>
              </a:srgbClr>
            </a:outerShdw>
          </a:effectLst>
        </p:spPr>
      </p:sp>
      <p:sp>
        <p:nvSpPr>
          <p:cNvPr id="14" name="Text 12"/>
          <p:cNvSpPr/>
          <p:nvPr/>
        </p:nvSpPr>
        <p:spPr>
          <a:xfrm>
            <a:off x="5458968" y="1170432"/>
            <a:ext cx="1645920" cy="594360"/>
          </a:xfrm>
          <a:prstGeom prst="rect">
            <a:avLst/>
          </a:prstGeom>
          <a:noFill/>
          <a:ln/>
        </p:spPr>
        <p:txBody>
          <a:bodyPr wrap="square" rtlCol="0" anchor="ctr"/>
          <a:lstStyle/>
          <a:p>
            <a:pPr marL="0" indent="0" algn="ctr">
              <a:buNone/>
            </a:pPr>
            <a:r>
              <a:rPr lang="en-US" sz="2400" b="1" dirty="0">
                <a:solidFill>
                  <a:srgbClr val="F4A261"/>
                </a:solidFill>
                <a:latin typeface="Trebuchet MS" pitchFamily="34" charset="0"/>
                <a:ea typeface="Trebuchet MS" pitchFamily="34" charset="-122"/>
                <a:cs typeface="Trebuchet MS" pitchFamily="34" charset="-120"/>
              </a:rPr>
              <a:t>216</a:t>
            </a:r>
            <a:endParaRPr lang="en-US" sz="2400" dirty="0"/>
          </a:p>
        </p:txBody>
      </p:sp>
      <p:sp>
        <p:nvSpPr>
          <p:cNvPr id="15" name="Text 13"/>
          <p:cNvSpPr/>
          <p:nvPr/>
        </p:nvSpPr>
        <p:spPr>
          <a:xfrm>
            <a:off x="5458968" y="1737360"/>
            <a:ext cx="1645920" cy="36576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High Signals</a:t>
            </a:r>
            <a:endParaRPr lang="en-US" sz="1000" dirty="0"/>
          </a:p>
        </p:txBody>
      </p:sp>
      <p:sp>
        <p:nvSpPr>
          <p:cNvPr id="16" name="Shape 14"/>
          <p:cNvSpPr/>
          <p:nvPr/>
        </p:nvSpPr>
        <p:spPr>
          <a:xfrm>
            <a:off x="7232904" y="1097280"/>
            <a:ext cx="1645920" cy="1097280"/>
          </a:xfrm>
          <a:prstGeom prst="rect">
            <a:avLst/>
          </a:prstGeom>
          <a:solidFill>
            <a:srgbClr val="7C3AED"/>
          </a:solidFill>
          <a:ln w="12700">
            <a:solidFill>
              <a:srgbClr val="7C3AED"/>
            </a:solidFill>
            <a:prstDash val="solid"/>
          </a:ln>
          <a:effectLst>
            <a:outerShdw blurRad="63500" dist="25400" dir="8100000" algn="bl" rotWithShape="0">
              <a:srgbClr val="000000">
                <a:alpha val="20000"/>
              </a:srgbClr>
            </a:outerShdw>
          </a:effectLst>
        </p:spPr>
      </p:sp>
      <p:sp>
        <p:nvSpPr>
          <p:cNvPr id="17" name="Text 15"/>
          <p:cNvSpPr/>
          <p:nvPr/>
        </p:nvSpPr>
        <p:spPr>
          <a:xfrm>
            <a:off x="7232904" y="1170432"/>
            <a:ext cx="1645920" cy="594360"/>
          </a:xfrm>
          <a:prstGeom prst="rect">
            <a:avLst/>
          </a:prstGeom>
          <a:noFill/>
          <a:ln/>
        </p:spPr>
        <p:txBody>
          <a:bodyPr wrap="square"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45.56</a:t>
            </a:r>
            <a:endParaRPr lang="en-US" sz="2400" dirty="0"/>
          </a:p>
        </p:txBody>
      </p:sp>
      <p:sp>
        <p:nvSpPr>
          <p:cNvPr id="18" name="Text 16"/>
          <p:cNvSpPr/>
          <p:nvPr/>
        </p:nvSpPr>
        <p:spPr>
          <a:xfrm>
            <a:off x="7232904" y="1737360"/>
            <a:ext cx="1645920" cy="36576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Max ROR</a:t>
            </a:r>
            <a:endParaRPr lang="en-US" sz="1000" dirty="0"/>
          </a:p>
        </p:txBody>
      </p:sp>
      <p:graphicFrame>
        <p:nvGraphicFramePr>
          <p:cNvPr id="19" name="Chart 0"/>
          <p:cNvGraphicFramePr/>
          <p:nvPr/>
        </p:nvGraphicFramePr>
        <p:xfrm>
          <a:off x="182880" y="2331720"/>
          <a:ext cx="502920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
          <p:cNvGraphicFramePr/>
          <p:nvPr/>
        </p:nvGraphicFramePr>
        <p:xfrm>
          <a:off x="5394960" y="2331720"/>
          <a:ext cx="3566160" cy="251460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0" y="4983480"/>
            <a:ext cx="9144000" cy="164592"/>
          </a:xfrm>
          <a:prstGeom prst="rect">
            <a:avLst/>
          </a:prstGeom>
          <a:solidFill>
            <a:srgbClr val="0B2447"/>
          </a:solidFill>
          <a:ln w="12700">
            <a:solidFill>
              <a:srgbClr val="0B2447"/>
            </a:solidFill>
            <a:prstDash val="solid"/>
          </a:ln>
        </p:spPr>
      </p:sp>
      <p:sp>
        <p:nvSpPr>
          <p:cNvPr id="22" name="Text 18"/>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Demographic Insights</a:t>
            </a:r>
            <a:endParaRPr lang="en-US" sz="2600" dirty="0"/>
          </a:p>
        </p:txBody>
      </p:sp>
      <p:graphicFrame>
        <p:nvGraphicFramePr>
          <p:cNvPr id="4" name="Chart 0"/>
          <p:cNvGraphicFramePr/>
          <p:nvPr/>
        </p:nvGraphicFramePr>
        <p:xfrm>
          <a:off x="274320" y="1097280"/>
          <a:ext cx="49377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394960" y="1143000"/>
            <a:ext cx="3474720" cy="411480"/>
          </a:xfrm>
          <a:prstGeom prst="rect">
            <a:avLst/>
          </a:prstGeom>
          <a:noFill/>
          <a:ln/>
        </p:spPr>
        <p:txBody>
          <a:bodyPr wrap="square" rtlCol="0" anchor="ctr"/>
          <a:lstStyle/>
          <a:p>
            <a:pPr marL="0" indent="0">
              <a:buNone/>
            </a:pPr>
            <a:r>
              <a:rPr lang="en-US" sz="1400" b="1" dirty="0">
                <a:solidFill>
                  <a:srgbClr val="0B2447"/>
                </a:solidFill>
                <a:latin typeface="Trebuchet MS" pitchFamily="34" charset="0"/>
                <a:ea typeface="Trebuchet MS" pitchFamily="34" charset="-122"/>
                <a:cs typeface="Trebuchet MS" pitchFamily="34" charset="-120"/>
              </a:rPr>
              <a:t>Key Demographic Observations</a:t>
            </a:r>
            <a:endParaRPr lang="en-US" sz="1400" dirty="0"/>
          </a:p>
        </p:txBody>
      </p:sp>
      <p:sp>
        <p:nvSpPr>
          <p:cNvPr id="6" name="Shape 3"/>
          <p:cNvSpPr/>
          <p:nvPr/>
        </p:nvSpPr>
        <p:spPr>
          <a:xfrm>
            <a:off x="5394960" y="1645920"/>
            <a:ext cx="3474720" cy="914400"/>
          </a:xfrm>
          <a:prstGeom prst="rect">
            <a:avLst/>
          </a:prstGeom>
          <a:solidFill>
            <a:srgbClr val="EFF8FF"/>
          </a:solidFill>
          <a:ln w="19050">
            <a:solidFill>
              <a:srgbClr val="0096C7"/>
            </a:solidFill>
            <a:prstDash val="solid"/>
          </a:ln>
          <a:effectLst>
            <a:outerShdw blurRad="38100" dist="12700" dir="8100000" algn="bl" rotWithShape="0">
              <a:srgbClr val="000000">
                <a:alpha val="8000"/>
              </a:srgbClr>
            </a:outerShdw>
          </a:effectLst>
        </p:spPr>
      </p:sp>
      <p:sp>
        <p:nvSpPr>
          <p:cNvPr id="7" name="Text 4"/>
          <p:cNvSpPr/>
          <p:nvPr/>
        </p:nvSpPr>
        <p:spPr>
          <a:xfrm>
            <a:off x="5532120" y="1682496"/>
            <a:ext cx="3200400" cy="320040"/>
          </a:xfrm>
          <a:prstGeom prst="rect">
            <a:avLst/>
          </a:prstGeom>
          <a:noFill/>
          <a:ln/>
        </p:spPr>
        <p:txBody>
          <a:bodyPr wrap="square" rtlCol="0" anchor="ctr"/>
          <a:lstStyle/>
          <a:p>
            <a:pPr marL="0" indent="0">
              <a:buNone/>
            </a:pPr>
            <a:r>
              <a:rPr lang="en-US" sz="1200" b="1" dirty="0">
                <a:solidFill>
                  <a:srgbClr val="0096C7"/>
                </a:solidFill>
                <a:latin typeface="Trebuchet MS" pitchFamily="34" charset="0"/>
                <a:ea typeface="Trebuchet MS" pitchFamily="34" charset="-122"/>
                <a:cs typeface="Trebuchet MS" pitchFamily="34" charset="-120"/>
              </a:rPr>
              <a:t>👥  41–65 Age Group</a:t>
            </a:r>
            <a:endParaRPr lang="en-US" sz="1200" dirty="0"/>
          </a:p>
        </p:txBody>
      </p:sp>
      <p:sp>
        <p:nvSpPr>
          <p:cNvPr id="8" name="Text 5"/>
          <p:cNvSpPr/>
          <p:nvPr/>
        </p:nvSpPr>
        <p:spPr>
          <a:xfrm>
            <a:off x="5532120" y="1993392"/>
            <a:ext cx="32461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Highest DILI case count. Middle-aged adults show greater vulnerability, likely due to polypharmacy and metabolic changes.</a:t>
            </a:r>
            <a:endParaRPr lang="en-US" sz="1100" dirty="0"/>
          </a:p>
        </p:txBody>
      </p:sp>
      <p:sp>
        <p:nvSpPr>
          <p:cNvPr id="9" name="Shape 6"/>
          <p:cNvSpPr/>
          <p:nvPr/>
        </p:nvSpPr>
        <p:spPr>
          <a:xfrm>
            <a:off x="5394960" y="2697480"/>
            <a:ext cx="3474720" cy="914400"/>
          </a:xfrm>
          <a:prstGeom prst="rect">
            <a:avLst/>
          </a:prstGeom>
          <a:solidFill>
            <a:srgbClr val="FFF5F5"/>
          </a:solidFill>
          <a:ln w="19050">
            <a:solidFill>
              <a:srgbClr val="E63946"/>
            </a:solidFill>
            <a:prstDash val="solid"/>
          </a:ln>
          <a:effectLst>
            <a:outerShdw blurRad="38100" dist="12700" dir="8100000" algn="bl" rotWithShape="0">
              <a:srgbClr val="000000">
                <a:alpha val="8000"/>
              </a:srgbClr>
            </a:outerShdw>
          </a:effectLst>
        </p:spPr>
      </p:sp>
      <p:sp>
        <p:nvSpPr>
          <p:cNvPr id="10" name="Text 7"/>
          <p:cNvSpPr/>
          <p:nvPr/>
        </p:nvSpPr>
        <p:spPr>
          <a:xfrm>
            <a:off x="5532120" y="2734056"/>
            <a:ext cx="3200400" cy="320040"/>
          </a:xfrm>
          <a:prstGeom prst="rect">
            <a:avLst/>
          </a:prstGeom>
          <a:noFill/>
          <a:ln/>
        </p:spPr>
        <p:txBody>
          <a:bodyPr wrap="square" rtlCol="0" anchor="ctr"/>
          <a:lstStyle/>
          <a:p>
            <a:pPr marL="0" indent="0">
              <a:buNone/>
            </a:pPr>
            <a:r>
              <a:rPr lang="en-US" sz="1200" b="1" dirty="0">
                <a:solidFill>
                  <a:srgbClr val="E63946"/>
                </a:solidFill>
                <a:latin typeface="Trebuchet MS" pitchFamily="34" charset="0"/>
                <a:ea typeface="Trebuchet MS" pitchFamily="34" charset="-122"/>
                <a:cs typeface="Trebuchet MS" pitchFamily="34" charset="-120"/>
              </a:rPr>
              <a:t>♀  Female-dominant Reporting</a:t>
            </a:r>
            <a:endParaRPr lang="en-US" sz="1200" dirty="0"/>
          </a:p>
        </p:txBody>
      </p:sp>
      <p:sp>
        <p:nvSpPr>
          <p:cNvPr id="11" name="Text 8"/>
          <p:cNvSpPr/>
          <p:nvPr/>
        </p:nvSpPr>
        <p:spPr>
          <a:xfrm>
            <a:off x="5532120" y="3044952"/>
            <a:ext cx="32461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50.8% of reports from females vs 30.5% males — indicating possible gender-based pharmacokinetic or reporting differences.</a:t>
            </a:r>
            <a:endParaRPr lang="en-US" sz="1100" dirty="0"/>
          </a:p>
        </p:txBody>
      </p:sp>
      <p:sp>
        <p:nvSpPr>
          <p:cNvPr id="12" name="Shape 9"/>
          <p:cNvSpPr/>
          <p:nvPr/>
        </p:nvSpPr>
        <p:spPr>
          <a:xfrm>
            <a:off x="5394960" y="3749040"/>
            <a:ext cx="3474720" cy="914400"/>
          </a:xfrm>
          <a:prstGeom prst="rect">
            <a:avLst/>
          </a:prstGeom>
          <a:solidFill>
            <a:srgbClr val="F0FDF4"/>
          </a:solidFill>
          <a:ln w="19050">
            <a:solidFill>
              <a:srgbClr val="2D6A4F"/>
            </a:solidFill>
            <a:prstDash val="solid"/>
          </a:ln>
          <a:effectLst>
            <a:outerShdw blurRad="38100" dist="12700" dir="8100000" algn="bl" rotWithShape="0">
              <a:srgbClr val="000000">
                <a:alpha val="8000"/>
              </a:srgbClr>
            </a:outerShdw>
          </a:effectLst>
        </p:spPr>
      </p:sp>
      <p:sp>
        <p:nvSpPr>
          <p:cNvPr id="13" name="Text 10"/>
          <p:cNvSpPr/>
          <p:nvPr/>
        </p:nvSpPr>
        <p:spPr>
          <a:xfrm>
            <a:off x="5532120" y="3785616"/>
            <a:ext cx="3200400" cy="320040"/>
          </a:xfrm>
          <a:prstGeom prst="rect">
            <a:avLst/>
          </a:prstGeom>
          <a:noFill/>
          <a:ln/>
        </p:spPr>
        <p:txBody>
          <a:bodyPr wrap="square" rtlCol="0" anchor="ctr"/>
          <a:lstStyle/>
          <a:p>
            <a:pPr marL="0" indent="0">
              <a:buNone/>
            </a:pPr>
            <a:r>
              <a:rPr lang="en-US" sz="1200" b="1" dirty="0">
                <a:solidFill>
                  <a:srgbClr val="2D6A4F"/>
                </a:solidFill>
                <a:latin typeface="Trebuchet MS" pitchFamily="34" charset="0"/>
                <a:ea typeface="Trebuchet MS" pitchFamily="34" charset="-122"/>
                <a:cs typeface="Trebuchet MS" pitchFamily="34" charset="-120"/>
              </a:rPr>
              <a:t>🏥  Serious Case Rate: 42%</a:t>
            </a:r>
            <a:endParaRPr lang="en-US" sz="1200" dirty="0"/>
          </a:p>
        </p:txBody>
      </p:sp>
      <p:sp>
        <p:nvSpPr>
          <p:cNvPr id="14" name="Text 11"/>
          <p:cNvSpPr/>
          <p:nvPr/>
        </p:nvSpPr>
        <p:spPr>
          <a:xfrm>
            <a:off x="5532120" y="4096512"/>
            <a:ext cx="3246120" cy="50292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Nearly half of DILI cases classified as serious (death, hospitalization, life-threatening, disability).</a:t>
            </a:r>
            <a:endParaRPr lang="en-US" sz="1100" dirty="0"/>
          </a:p>
        </p:txBody>
      </p:sp>
      <p:sp>
        <p:nvSpPr>
          <p:cNvPr id="15" name="Shape 12"/>
          <p:cNvSpPr/>
          <p:nvPr/>
        </p:nvSpPr>
        <p:spPr>
          <a:xfrm>
            <a:off x="0" y="4983480"/>
            <a:ext cx="9144000" cy="164592"/>
          </a:xfrm>
          <a:prstGeom prst="rect">
            <a:avLst/>
          </a:prstGeom>
          <a:solidFill>
            <a:srgbClr val="0B2447"/>
          </a:solidFill>
          <a:ln w="12700">
            <a:solidFill>
              <a:srgbClr val="0B2447"/>
            </a:solidFill>
            <a:prstDash val="solid"/>
          </a:ln>
        </p:spPr>
      </p:sp>
      <p:sp>
        <p:nvSpPr>
          <p:cNvPr id="16" name="Text 13"/>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B2447"/>
          </a:solidFill>
          <a:ln w="12700">
            <a:solidFill>
              <a:srgbClr val="0B2447"/>
            </a:solidFill>
            <a:prstDash val="solid"/>
          </a:ln>
        </p:spPr>
      </p:sp>
      <p:sp>
        <p:nvSpPr>
          <p:cNvPr id="3" name="Text 1"/>
          <p:cNvSpPr/>
          <p:nvPr/>
        </p:nvSpPr>
        <p:spPr>
          <a:xfrm>
            <a:off x="365760" y="137160"/>
            <a:ext cx="8229600" cy="685800"/>
          </a:xfrm>
          <a:prstGeom prst="rect">
            <a:avLst/>
          </a:prstGeom>
          <a:noFill/>
          <a:ln/>
        </p:spPr>
        <p:txBody>
          <a:bodyPr wrap="square"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Signal Interpretation &amp; Limitations</a:t>
            </a:r>
            <a:endParaRPr lang="en-US" sz="2600" dirty="0"/>
          </a:p>
        </p:txBody>
      </p:sp>
      <p:sp>
        <p:nvSpPr>
          <p:cNvPr id="4" name="Text 2"/>
          <p:cNvSpPr/>
          <p:nvPr/>
        </p:nvSpPr>
        <p:spPr>
          <a:xfrm>
            <a:off x="274320" y="1051560"/>
            <a:ext cx="4572000" cy="365760"/>
          </a:xfrm>
          <a:prstGeom prst="rect">
            <a:avLst/>
          </a:prstGeom>
          <a:noFill/>
          <a:ln/>
        </p:spPr>
        <p:txBody>
          <a:bodyPr wrap="square" rtlCol="0" anchor="ctr"/>
          <a:lstStyle/>
          <a:p>
            <a:pPr marL="0" indent="0">
              <a:buNone/>
            </a:pPr>
            <a:r>
              <a:rPr lang="en-US" sz="1300" b="1" dirty="0">
                <a:solidFill>
                  <a:srgbClr val="0B2447"/>
                </a:solidFill>
                <a:latin typeface="Trebuchet MS" pitchFamily="34" charset="0"/>
                <a:ea typeface="Trebuchet MS" pitchFamily="34" charset="-122"/>
                <a:cs typeface="Trebuchet MS" pitchFamily="34" charset="-120"/>
              </a:rPr>
              <a:t>Signal Prioritization Framework</a:t>
            </a:r>
            <a:endParaRPr lang="en-US" sz="1300" dirty="0"/>
          </a:p>
        </p:txBody>
      </p:sp>
      <p:sp>
        <p:nvSpPr>
          <p:cNvPr id="5" name="Shape 3"/>
          <p:cNvSpPr/>
          <p:nvPr/>
        </p:nvSpPr>
        <p:spPr>
          <a:xfrm>
            <a:off x="274320" y="1508760"/>
            <a:ext cx="1005840" cy="594360"/>
          </a:xfrm>
          <a:prstGeom prst="rect">
            <a:avLst/>
          </a:prstGeom>
          <a:solidFill>
            <a:srgbClr val="F1F5F9"/>
          </a:solidFill>
          <a:ln w="12700">
            <a:solidFill>
              <a:srgbClr val="D1D5DB"/>
            </a:solidFill>
            <a:prstDash val="solid"/>
          </a:ln>
        </p:spPr>
      </p:sp>
      <p:sp>
        <p:nvSpPr>
          <p:cNvPr id="6" name="Text 4"/>
          <p:cNvSpPr/>
          <p:nvPr/>
        </p:nvSpPr>
        <p:spPr>
          <a:xfrm>
            <a:off x="274320" y="1527048"/>
            <a:ext cx="1005840" cy="274320"/>
          </a:xfrm>
          <a:prstGeom prst="rect">
            <a:avLst/>
          </a:prstGeom>
          <a:noFill/>
          <a:ln/>
        </p:spPr>
        <p:txBody>
          <a:bodyPr wrap="square" rtlCol="0" anchor="ctr"/>
          <a:lstStyle/>
          <a:p>
            <a:pPr marL="0" indent="0" algn="ctr">
              <a:buNone/>
            </a:pPr>
            <a:r>
              <a:rPr lang="en-US" sz="1000" b="1" dirty="0">
                <a:solidFill>
                  <a:srgbClr val="0B2447"/>
                </a:solidFill>
                <a:latin typeface="Calibri" pitchFamily="34" charset="0"/>
                <a:ea typeface="Calibri" pitchFamily="34" charset="-122"/>
                <a:cs typeface="Calibri" pitchFamily="34" charset="-120"/>
              </a:rPr>
              <a:t>ROR: HIGH</a:t>
            </a:r>
            <a:endParaRPr lang="en-US" sz="1000" dirty="0"/>
          </a:p>
        </p:txBody>
      </p:sp>
      <p:sp>
        <p:nvSpPr>
          <p:cNvPr id="7" name="Text 5"/>
          <p:cNvSpPr/>
          <p:nvPr/>
        </p:nvSpPr>
        <p:spPr>
          <a:xfrm>
            <a:off x="274320" y="1792224"/>
            <a:ext cx="1005840" cy="25603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Vol: HIGH</a:t>
            </a:r>
            <a:endParaRPr lang="en-US" sz="1000" dirty="0"/>
          </a:p>
        </p:txBody>
      </p:sp>
      <p:sp>
        <p:nvSpPr>
          <p:cNvPr id="8" name="Shape 6"/>
          <p:cNvSpPr/>
          <p:nvPr/>
        </p:nvSpPr>
        <p:spPr>
          <a:xfrm>
            <a:off x="1280160" y="1508760"/>
            <a:ext cx="3200400" cy="594360"/>
          </a:xfrm>
          <a:prstGeom prst="rect">
            <a:avLst/>
          </a:prstGeom>
          <a:solidFill>
            <a:srgbClr val="E63946"/>
          </a:solidFill>
          <a:ln w="12700">
            <a:solidFill>
              <a:srgbClr val="E63946"/>
            </a:solidFill>
            <a:prstDash val="solid"/>
          </a:ln>
        </p:spPr>
      </p:sp>
      <p:sp>
        <p:nvSpPr>
          <p:cNvPr id="9" name="Text 7"/>
          <p:cNvSpPr/>
          <p:nvPr/>
        </p:nvSpPr>
        <p:spPr>
          <a:xfrm>
            <a:off x="1280160" y="1508760"/>
            <a:ext cx="3200400" cy="301752"/>
          </a:xfrm>
          <a:prstGeom prst="rect">
            <a:avLst/>
          </a:prstGeom>
          <a:noFill/>
          <a:ln/>
        </p:spPr>
        <p:txBody>
          <a:bodyPr wrap="square" rtlCol="0" anchor="b"/>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Priority Signal</a:t>
            </a:r>
            <a:endParaRPr lang="en-US" sz="1200" dirty="0"/>
          </a:p>
        </p:txBody>
      </p:sp>
      <p:sp>
        <p:nvSpPr>
          <p:cNvPr id="10" name="Text 8"/>
          <p:cNvSpPr/>
          <p:nvPr/>
        </p:nvSpPr>
        <p:spPr>
          <a:xfrm>
            <a:off x="1280160" y="1810512"/>
            <a:ext cx="3200400"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Strong actionable finding — escalate to clinical review</a:t>
            </a:r>
            <a:endParaRPr lang="en-US" sz="1000" dirty="0"/>
          </a:p>
        </p:txBody>
      </p:sp>
      <p:sp>
        <p:nvSpPr>
          <p:cNvPr id="11" name="Shape 9"/>
          <p:cNvSpPr/>
          <p:nvPr/>
        </p:nvSpPr>
        <p:spPr>
          <a:xfrm>
            <a:off x="274320" y="2286000"/>
            <a:ext cx="1005840" cy="594360"/>
          </a:xfrm>
          <a:prstGeom prst="rect">
            <a:avLst/>
          </a:prstGeom>
          <a:solidFill>
            <a:srgbClr val="F1F5F9"/>
          </a:solidFill>
          <a:ln w="12700">
            <a:solidFill>
              <a:srgbClr val="D1D5DB"/>
            </a:solidFill>
            <a:prstDash val="solid"/>
          </a:ln>
        </p:spPr>
      </p:sp>
      <p:sp>
        <p:nvSpPr>
          <p:cNvPr id="12" name="Text 10"/>
          <p:cNvSpPr/>
          <p:nvPr/>
        </p:nvSpPr>
        <p:spPr>
          <a:xfrm>
            <a:off x="274320" y="2304288"/>
            <a:ext cx="1005840" cy="274320"/>
          </a:xfrm>
          <a:prstGeom prst="rect">
            <a:avLst/>
          </a:prstGeom>
          <a:noFill/>
          <a:ln/>
        </p:spPr>
        <p:txBody>
          <a:bodyPr wrap="square" rtlCol="0" anchor="ctr"/>
          <a:lstStyle/>
          <a:p>
            <a:pPr marL="0" indent="0" algn="ctr">
              <a:buNone/>
            </a:pPr>
            <a:r>
              <a:rPr lang="en-US" sz="1000" b="1" dirty="0">
                <a:solidFill>
                  <a:srgbClr val="0B2447"/>
                </a:solidFill>
                <a:latin typeface="Calibri" pitchFamily="34" charset="0"/>
                <a:ea typeface="Calibri" pitchFamily="34" charset="-122"/>
                <a:cs typeface="Calibri" pitchFamily="34" charset="-120"/>
              </a:rPr>
              <a:t>ROR: HIGH</a:t>
            </a:r>
            <a:endParaRPr lang="en-US" sz="1000" dirty="0"/>
          </a:p>
        </p:txBody>
      </p:sp>
      <p:sp>
        <p:nvSpPr>
          <p:cNvPr id="13" name="Text 11"/>
          <p:cNvSpPr/>
          <p:nvPr/>
        </p:nvSpPr>
        <p:spPr>
          <a:xfrm>
            <a:off x="274320" y="2569464"/>
            <a:ext cx="1005840" cy="25603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Vol: LOW</a:t>
            </a:r>
            <a:endParaRPr lang="en-US" sz="1000" dirty="0"/>
          </a:p>
        </p:txBody>
      </p:sp>
      <p:sp>
        <p:nvSpPr>
          <p:cNvPr id="14" name="Shape 12"/>
          <p:cNvSpPr/>
          <p:nvPr/>
        </p:nvSpPr>
        <p:spPr>
          <a:xfrm>
            <a:off x="1280160" y="2286000"/>
            <a:ext cx="3200400" cy="594360"/>
          </a:xfrm>
          <a:prstGeom prst="rect">
            <a:avLst/>
          </a:prstGeom>
          <a:solidFill>
            <a:srgbClr val="F4A261"/>
          </a:solidFill>
          <a:ln w="12700">
            <a:solidFill>
              <a:srgbClr val="F4A261"/>
            </a:solidFill>
            <a:prstDash val="solid"/>
          </a:ln>
        </p:spPr>
      </p:sp>
      <p:sp>
        <p:nvSpPr>
          <p:cNvPr id="15" name="Text 13"/>
          <p:cNvSpPr/>
          <p:nvPr/>
        </p:nvSpPr>
        <p:spPr>
          <a:xfrm>
            <a:off x="1280160" y="2286000"/>
            <a:ext cx="3200400" cy="301752"/>
          </a:xfrm>
          <a:prstGeom prst="rect">
            <a:avLst/>
          </a:prstGeom>
          <a:noFill/>
          <a:ln/>
        </p:spPr>
        <p:txBody>
          <a:bodyPr wrap="square" rtlCol="0" anchor="b"/>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Caution</a:t>
            </a:r>
            <a:endParaRPr lang="en-US" sz="1200" dirty="0"/>
          </a:p>
        </p:txBody>
      </p:sp>
      <p:sp>
        <p:nvSpPr>
          <p:cNvPr id="16" name="Text 14"/>
          <p:cNvSpPr/>
          <p:nvPr/>
        </p:nvSpPr>
        <p:spPr>
          <a:xfrm>
            <a:off x="1280160" y="2587752"/>
            <a:ext cx="3200400"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Statistical inflation possible — verify with additional data</a:t>
            </a:r>
            <a:endParaRPr lang="en-US" sz="1000" dirty="0"/>
          </a:p>
        </p:txBody>
      </p:sp>
      <p:sp>
        <p:nvSpPr>
          <p:cNvPr id="17" name="Shape 15"/>
          <p:cNvSpPr/>
          <p:nvPr/>
        </p:nvSpPr>
        <p:spPr>
          <a:xfrm>
            <a:off x="274320" y="3063240"/>
            <a:ext cx="1005840" cy="594360"/>
          </a:xfrm>
          <a:prstGeom prst="rect">
            <a:avLst/>
          </a:prstGeom>
          <a:solidFill>
            <a:srgbClr val="F1F5F9"/>
          </a:solidFill>
          <a:ln w="12700">
            <a:solidFill>
              <a:srgbClr val="D1D5DB"/>
            </a:solidFill>
            <a:prstDash val="solid"/>
          </a:ln>
        </p:spPr>
      </p:sp>
      <p:sp>
        <p:nvSpPr>
          <p:cNvPr id="18" name="Text 16"/>
          <p:cNvSpPr/>
          <p:nvPr/>
        </p:nvSpPr>
        <p:spPr>
          <a:xfrm>
            <a:off x="274320" y="3081528"/>
            <a:ext cx="1005840" cy="274320"/>
          </a:xfrm>
          <a:prstGeom prst="rect">
            <a:avLst/>
          </a:prstGeom>
          <a:noFill/>
          <a:ln/>
        </p:spPr>
        <p:txBody>
          <a:bodyPr wrap="square" rtlCol="0" anchor="ctr"/>
          <a:lstStyle/>
          <a:p>
            <a:pPr marL="0" indent="0" algn="ctr">
              <a:buNone/>
            </a:pPr>
            <a:r>
              <a:rPr lang="en-US" sz="1000" b="1" dirty="0">
                <a:solidFill>
                  <a:srgbClr val="0B2447"/>
                </a:solidFill>
                <a:latin typeface="Calibri" pitchFamily="34" charset="0"/>
                <a:ea typeface="Calibri" pitchFamily="34" charset="-122"/>
                <a:cs typeface="Calibri" pitchFamily="34" charset="-120"/>
              </a:rPr>
              <a:t>ROR: LOW</a:t>
            </a:r>
            <a:endParaRPr lang="en-US" sz="1000" dirty="0"/>
          </a:p>
        </p:txBody>
      </p:sp>
      <p:sp>
        <p:nvSpPr>
          <p:cNvPr id="19" name="Text 17"/>
          <p:cNvSpPr/>
          <p:nvPr/>
        </p:nvSpPr>
        <p:spPr>
          <a:xfrm>
            <a:off x="274320" y="3346704"/>
            <a:ext cx="1005840" cy="25603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Vol: HIGH</a:t>
            </a:r>
            <a:endParaRPr lang="en-US" sz="1000" dirty="0"/>
          </a:p>
        </p:txBody>
      </p:sp>
      <p:sp>
        <p:nvSpPr>
          <p:cNvPr id="20" name="Shape 18"/>
          <p:cNvSpPr/>
          <p:nvPr/>
        </p:nvSpPr>
        <p:spPr>
          <a:xfrm>
            <a:off x="1280160" y="3063240"/>
            <a:ext cx="3200400" cy="594360"/>
          </a:xfrm>
          <a:prstGeom prst="rect">
            <a:avLst/>
          </a:prstGeom>
          <a:solidFill>
            <a:srgbClr val="0096C7"/>
          </a:solidFill>
          <a:ln w="12700">
            <a:solidFill>
              <a:srgbClr val="0096C7"/>
            </a:solidFill>
            <a:prstDash val="solid"/>
          </a:ln>
        </p:spPr>
      </p:sp>
      <p:sp>
        <p:nvSpPr>
          <p:cNvPr id="21" name="Text 19"/>
          <p:cNvSpPr/>
          <p:nvPr/>
        </p:nvSpPr>
        <p:spPr>
          <a:xfrm>
            <a:off x="1280160" y="3063240"/>
            <a:ext cx="3200400" cy="301752"/>
          </a:xfrm>
          <a:prstGeom prst="rect">
            <a:avLst/>
          </a:prstGeom>
          <a:noFill/>
          <a:ln/>
        </p:spPr>
        <p:txBody>
          <a:bodyPr wrap="square" rtlCol="0" anchor="b"/>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Monitor</a:t>
            </a:r>
            <a:endParaRPr lang="en-US" sz="1200" dirty="0"/>
          </a:p>
        </p:txBody>
      </p:sp>
      <p:sp>
        <p:nvSpPr>
          <p:cNvPr id="22" name="Text 20"/>
          <p:cNvSpPr/>
          <p:nvPr/>
        </p:nvSpPr>
        <p:spPr>
          <a:xfrm>
            <a:off x="1280160" y="3364992"/>
            <a:ext cx="3200400"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Volume present but signal weak — ongoing surveillance</a:t>
            </a:r>
            <a:endParaRPr lang="en-US" sz="1000" dirty="0"/>
          </a:p>
        </p:txBody>
      </p:sp>
      <p:sp>
        <p:nvSpPr>
          <p:cNvPr id="23" name="Shape 21"/>
          <p:cNvSpPr/>
          <p:nvPr/>
        </p:nvSpPr>
        <p:spPr>
          <a:xfrm>
            <a:off x="274320" y="3840480"/>
            <a:ext cx="1005840" cy="594360"/>
          </a:xfrm>
          <a:prstGeom prst="rect">
            <a:avLst/>
          </a:prstGeom>
          <a:solidFill>
            <a:srgbClr val="F1F5F9"/>
          </a:solidFill>
          <a:ln w="12700">
            <a:solidFill>
              <a:srgbClr val="D1D5DB"/>
            </a:solidFill>
            <a:prstDash val="solid"/>
          </a:ln>
        </p:spPr>
      </p:sp>
      <p:sp>
        <p:nvSpPr>
          <p:cNvPr id="24" name="Text 22"/>
          <p:cNvSpPr/>
          <p:nvPr/>
        </p:nvSpPr>
        <p:spPr>
          <a:xfrm>
            <a:off x="274320" y="3858768"/>
            <a:ext cx="1005840" cy="274320"/>
          </a:xfrm>
          <a:prstGeom prst="rect">
            <a:avLst/>
          </a:prstGeom>
          <a:noFill/>
          <a:ln/>
        </p:spPr>
        <p:txBody>
          <a:bodyPr wrap="square" rtlCol="0" anchor="ctr"/>
          <a:lstStyle/>
          <a:p>
            <a:pPr marL="0" indent="0" algn="ctr">
              <a:buNone/>
            </a:pPr>
            <a:r>
              <a:rPr lang="en-US" sz="1000" b="1" dirty="0">
                <a:solidFill>
                  <a:srgbClr val="0B2447"/>
                </a:solidFill>
                <a:latin typeface="Calibri" pitchFamily="34" charset="0"/>
                <a:ea typeface="Calibri" pitchFamily="34" charset="-122"/>
                <a:cs typeface="Calibri" pitchFamily="34" charset="-120"/>
              </a:rPr>
              <a:t>ROR: LOW</a:t>
            </a:r>
            <a:endParaRPr lang="en-US" sz="1000" dirty="0"/>
          </a:p>
        </p:txBody>
      </p:sp>
      <p:sp>
        <p:nvSpPr>
          <p:cNvPr id="25" name="Text 23"/>
          <p:cNvSpPr/>
          <p:nvPr/>
        </p:nvSpPr>
        <p:spPr>
          <a:xfrm>
            <a:off x="274320" y="4123944"/>
            <a:ext cx="1005840" cy="256032"/>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Vol: LOW</a:t>
            </a:r>
            <a:endParaRPr lang="en-US" sz="1000" dirty="0"/>
          </a:p>
        </p:txBody>
      </p:sp>
      <p:sp>
        <p:nvSpPr>
          <p:cNvPr id="26" name="Shape 24"/>
          <p:cNvSpPr/>
          <p:nvPr/>
        </p:nvSpPr>
        <p:spPr>
          <a:xfrm>
            <a:off x="1280160" y="3840480"/>
            <a:ext cx="3200400" cy="594360"/>
          </a:xfrm>
          <a:prstGeom prst="rect">
            <a:avLst/>
          </a:prstGeom>
          <a:solidFill>
            <a:srgbClr val="64748B"/>
          </a:solidFill>
          <a:ln w="12700">
            <a:solidFill>
              <a:srgbClr val="64748B"/>
            </a:solidFill>
            <a:prstDash val="solid"/>
          </a:ln>
        </p:spPr>
      </p:sp>
      <p:sp>
        <p:nvSpPr>
          <p:cNvPr id="27" name="Text 25"/>
          <p:cNvSpPr/>
          <p:nvPr/>
        </p:nvSpPr>
        <p:spPr>
          <a:xfrm>
            <a:off x="1280160" y="3840480"/>
            <a:ext cx="3200400" cy="301752"/>
          </a:xfrm>
          <a:prstGeom prst="rect">
            <a:avLst/>
          </a:prstGeom>
          <a:noFill/>
          <a:ln/>
        </p:spPr>
        <p:txBody>
          <a:bodyPr wrap="square" rtlCol="0" anchor="b"/>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Background Noise</a:t>
            </a:r>
            <a:endParaRPr lang="en-US" sz="1200" dirty="0"/>
          </a:p>
        </p:txBody>
      </p:sp>
      <p:sp>
        <p:nvSpPr>
          <p:cNvPr id="28" name="Text 26"/>
          <p:cNvSpPr/>
          <p:nvPr/>
        </p:nvSpPr>
        <p:spPr>
          <a:xfrm>
            <a:off x="1280160" y="4142232"/>
            <a:ext cx="3200400"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Low priority — routine monitoring only</a:t>
            </a:r>
            <a:endParaRPr lang="en-US" sz="1000" dirty="0"/>
          </a:p>
        </p:txBody>
      </p:sp>
      <p:sp>
        <p:nvSpPr>
          <p:cNvPr id="29" name="Text 27"/>
          <p:cNvSpPr/>
          <p:nvPr/>
        </p:nvSpPr>
        <p:spPr>
          <a:xfrm>
            <a:off x="4754880" y="1051560"/>
            <a:ext cx="4114800" cy="365760"/>
          </a:xfrm>
          <a:prstGeom prst="rect">
            <a:avLst/>
          </a:prstGeom>
          <a:noFill/>
          <a:ln/>
        </p:spPr>
        <p:txBody>
          <a:bodyPr wrap="square" rtlCol="0" anchor="ctr"/>
          <a:lstStyle/>
          <a:p>
            <a:pPr marL="0" indent="0">
              <a:buNone/>
            </a:pPr>
            <a:r>
              <a:rPr lang="en-US" sz="1300" b="1" dirty="0">
                <a:solidFill>
                  <a:srgbClr val="0B2447"/>
                </a:solidFill>
                <a:latin typeface="Trebuchet MS" pitchFamily="34" charset="0"/>
                <a:ea typeface="Trebuchet MS" pitchFamily="34" charset="-122"/>
                <a:cs typeface="Trebuchet MS" pitchFamily="34" charset="-120"/>
              </a:rPr>
              <a:t>Study Limitations</a:t>
            </a:r>
            <a:endParaRPr lang="en-US" sz="1300" dirty="0"/>
          </a:p>
        </p:txBody>
      </p:sp>
      <p:sp>
        <p:nvSpPr>
          <p:cNvPr id="30" name="Shape 28"/>
          <p:cNvSpPr/>
          <p:nvPr/>
        </p:nvSpPr>
        <p:spPr>
          <a:xfrm>
            <a:off x="4754880" y="1508760"/>
            <a:ext cx="4114800" cy="521208"/>
          </a:xfrm>
          <a:prstGeom prst="rect">
            <a:avLst/>
          </a:prstGeom>
          <a:solidFill>
            <a:srgbClr val="FFF7ED"/>
          </a:solidFill>
          <a:ln w="12700">
            <a:solidFill>
              <a:srgbClr val="FED7AA"/>
            </a:solidFill>
            <a:prstDash val="solid"/>
          </a:ln>
        </p:spPr>
      </p:sp>
      <p:sp>
        <p:nvSpPr>
          <p:cNvPr id="31" name="Text 29"/>
          <p:cNvSpPr/>
          <p:nvPr/>
        </p:nvSpPr>
        <p:spPr>
          <a:xfrm>
            <a:off x="4754880" y="1508760"/>
            <a:ext cx="384048" cy="521208"/>
          </a:xfrm>
          <a:prstGeom prst="rect">
            <a:avLst/>
          </a:prstGeom>
          <a:noFill/>
          <a:ln/>
        </p:spPr>
        <p:txBody>
          <a:bodyPr wrap="square" rtlCol="0" anchor="ctr"/>
          <a:lstStyle/>
          <a:p>
            <a:pPr marL="0" indent="0" algn="ctr">
              <a:buNone/>
            </a:pPr>
            <a:r>
              <a:rPr lang="en-US" sz="1400" b="1" dirty="0">
                <a:solidFill>
                  <a:srgbClr val="D97706"/>
                </a:solidFill>
                <a:latin typeface="Trebuchet MS" pitchFamily="34" charset="0"/>
                <a:ea typeface="Trebuchet MS" pitchFamily="34" charset="-122"/>
                <a:cs typeface="Trebuchet MS" pitchFamily="34" charset="-120"/>
              </a:rPr>
              <a:t>!</a:t>
            </a:r>
            <a:endParaRPr lang="en-US" sz="1400" dirty="0"/>
          </a:p>
        </p:txBody>
      </p:sp>
      <p:sp>
        <p:nvSpPr>
          <p:cNvPr id="32" name="Text 30"/>
          <p:cNvSpPr/>
          <p:nvPr/>
        </p:nvSpPr>
        <p:spPr>
          <a:xfrm>
            <a:off x="5166360" y="1508760"/>
            <a:ext cx="3611880" cy="52120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Spontaneous reporting system — subject to reporting &amp; selection bias</a:t>
            </a:r>
            <a:endParaRPr lang="en-US" sz="1100" dirty="0"/>
          </a:p>
        </p:txBody>
      </p:sp>
      <p:sp>
        <p:nvSpPr>
          <p:cNvPr id="33" name="Shape 31"/>
          <p:cNvSpPr/>
          <p:nvPr/>
        </p:nvSpPr>
        <p:spPr>
          <a:xfrm>
            <a:off x="4754880" y="2121408"/>
            <a:ext cx="4114800" cy="521208"/>
          </a:xfrm>
          <a:prstGeom prst="rect">
            <a:avLst/>
          </a:prstGeom>
          <a:solidFill>
            <a:srgbClr val="FFF7ED"/>
          </a:solidFill>
          <a:ln w="12700">
            <a:solidFill>
              <a:srgbClr val="FED7AA"/>
            </a:solidFill>
            <a:prstDash val="solid"/>
          </a:ln>
        </p:spPr>
      </p:sp>
      <p:sp>
        <p:nvSpPr>
          <p:cNvPr id="34" name="Text 32"/>
          <p:cNvSpPr/>
          <p:nvPr/>
        </p:nvSpPr>
        <p:spPr>
          <a:xfrm>
            <a:off x="4754880" y="2121408"/>
            <a:ext cx="384048" cy="521208"/>
          </a:xfrm>
          <a:prstGeom prst="rect">
            <a:avLst/>
          </a:prstGeom>
          <a:noFill/>
          <a:ln/>
        </p:spPr>
        <p:txBody>
          <a:bodyPr wrap="square" rtlCol="0" anchor="ctr"/>
          <a:lstStyle/>
          <a:p>
            <a:pPr marL="0" indent="0" algn="ctr">
              <a:buNone/>
            </a:pPr>
            <a:r>
              <a:rPr lang="en-US" sz="1400" b="1" dirty="0">
                <a:solidFill>
                  <a:srgbClr val="D97706"/>
                </a:solidFill>
                <a:latin typeface="Trebuchet MS" pitchFamily="34" charset="0"/>
                <a:ea typeface="Trebuchet MS" pitchFamily="34" charset="-122"/>
                <a:cs typeface="Trebuchet MS" pitchFamily="34" charset="-120"/>
              </a:rPr>
              <a:t>!</a:t>
            </a:r>
            <a:endParaRPr lang="en-US" sz="1400" dirty="0"/>
          </a:p>
        </p:txBody>
      </p:sp>
      <p:sp>
        <p:nvSpPr>
          <p:cNvPr id="35" name="Text 33"/>
          <p:cNvSpPr/>
          <p:nvPr/>
        </p:nvSpPr>
        <p:spPr>
          <a:xfrm>
            <a:off x="5166360" y="2121408"/>
            <a:ext cx="3611880" cy="52120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Missing or incomplete patient data in several records</a:t>
            </a:r>
            <a:endParaRPr lang="en-US" sz="1100" dirty="0"/>
          </a:p>
        </p:txBody>
      </p:sp>
      <p:sp>
        <p:nvSpPr>
          <p:cNvPr id="36" name="Shape 34"/>
          <p:cNvSpPr/>
          <p:nvPr/>
        </p:nvSpPr>
        <p:spPr>
          <a:xfrm>
            <a:off x="4754880" y="2734056"/>
            <a:ext cx="4114800" cy="521208"/>
          </a:xfrm>
          <a:prstGeom prst="rect">
            <a:avLst/>
          </a:prstGeom>
          <a:solidFill>
            <a:srgbClr val="FFF7ED"/>
          </a:solidFill>
          <a:ln w="12700">
            <a:solidFill>
              <a:srgbClr val="FED7AA"/>
            </a:solidFill>
            <a:prstDash val="solid"/>
          </a:ln>
        </p:spPr>
      </p:sp>
      <p:sp>
        <p:nvSpPr>
          <p:cNvPr id="37" name="Text 35"/>
          <p:cNvSpPr/>
          <p:nvPr/>
        </p:nvSpPr>
        <p:spPr>
          <a:xfrm>
            <a:off x="4754880" y="2734056"/>
            <a:ext cx="384048" cy="521208"/>
          </a:xfrm>
          <a:prstGeom prst="rect">
            <a:avLst/>
          </a:prstGeom>
          <a:noFill/>
          <a:ln/>
        </p:spPr>
        <p:txBody>
          <a:bodyPr wrap="square" rtlCol="0" anchor="ctr"/>
          <a:lstStyle/>
          <a:p>
            <a:pPr marL="0" indent="0" algn="ctr">
              <a:buNone/>
            </a:pPr>
            <a:r>
              <a:rPr lang="en-US" sz="1400" b="1" dirty="0">
                <a:solidFill>
                  <a:srgbClr val="D97706"/>
                </a:solidFill>
                <a:latin typeface="Trebuchet MS" pitchFamily="34" charset="0"/>
                <a:ea typeface="Trebuchet MS" pitchFamily="34" charset="-122"/>
                <a:cs typeface="Trebuchet MS" pitchFamily="34" charset="-120"/>
              </a:rPr>
              <a:t>!</a:t>
            </a:r>
            <a:endParaRPr lang="en-US" sz="1400" dirty="0"/>
          </a:p>
        </p:txBody>
      </p:sp>
      <p:sp>
        <p:nvSpPr>
          <p:cNvPr id="38" name="Text 36"/>
          <p:cNvSpPr/>
          <p:nvPr/>
        </p:nvSpPr>
        <p:spPr>
          <a:xfrm>
            <a:off x="5166360" y="2734056"/>
            <a:ext cx="3611880" cy="52120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Cannot establish causal relationship between drug and DILI</a:t>
            </a:r>
            <a:endParaRPr lang="en-US" sz="1100" dirty="0"/>
          </a:p>
        </p:txBody>
      </p:sp>
      <p:sp>
        <p:nvSpPr>
          <p:cNvPr id="39" name="Shape 37"/>
          <p:cNvSpPr/>
          <p:nvPr/>
        </p:nvSpPr>
        <p:spPr>
          <a:xfrm>
            <a:off x="4754880" y="3346704"/>
            <a:ext cx="4114800" cy="521208"/>
          </a:xfrm>
          <a:prstGeom prst="rect">
            <a:avLst/>
          </a:prstGeom>
          <a:solidFill>
            <a:srgbClr val="FFF7ED"/>
          </a:solidFill>
          <a:ln w="12700">
            <a:solidFill>
              <a:srgbClr val="FED7AA"/>
            </a:solidFill>
            <a:prstDash val="solid"/>
          </a:ln>
        </p:spPr>
      </p:sp>
      <p:sp>
        <p:nvSpPr>
          <p:cNvPr id="40" name="Text 38"/>
          <p:cNvSpPr/>
          <p:nvPr/>
        </p:nvSpPr>
        <p:spPr>
          <a:xfrm>
            <a:off x="4754880" y="3346704"/>
            <a:ext cx="384048" cy="521208"/>
          </a:xfrm>
          <a:prstGeom prst="rect">
            <a:avLst/>
          </a:prstGeom>
          <a:noFill/>
          <a:ln/>
        </p:spPr>
        <p:txBody>
          <a:bodyPr wrap="square" rtlCol="0" anchor="ctr"/>
          <a:lstStyle/>
          <a:p>
            <a:pPr marL="0" indent="0" algn="ctr">
              <a:buNone/>
            </a:pPr>
            <a:r>
              <a:rPr lang="en-US" sz="1400" b="1" dirty="0">
                <a:solidFill>
                  <a:srgbClr val="D97706"/>
                </a:solidFill>
                <a:latin typeface="Trebuchet MS" pitchFamily="34" charset="0"/>
                <a:ea typeface="Trebuchet MS" pitchFamily="34" charset="-122"/>
                <a:cs typeface="Trebuchet MS" pitchFamily="34" charset="-120"/>
              </a:rPr>
              <a:t>!</a:t>
            </a:r>
            <a:endParaRPr lang="en-US" sz="1400" dirty="0"/>
          </a:p>
        </p:txBody>
      </p:sp>
      <p:sp>
        <p:nvSpPr>
          <p:cNvPr id="41" name="Text 39"/>
          <p:cNvSpPr/>
          <p:nvPr/>
        </p:nvSpPr>
        <p:spPr>
          <a:xfrm>
            <a:off x="5166360" y="3346704"/>
            <a:ext cx="3611880" cy="52120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Under-reporting is a known limitation of passive surveillance</a:t>
            </a:r>
            <a:endParaRPr lang="en-US" sz="1100" dirty="0"/>
          </a:p>
        </p:txBody>
      </p:sp>
      <p:sp>
        <p:nvSpPr>
          <p:cNvPr id="42" name="Shape 40"/>
          <p:cNvSpPr/>
          <p:nvPr/>
        </p:nvSpPr>
        <p:spPr>
          <a:xfrm>
            <a:off x="4754880" y="3959352"/>
            <a:ext cx="4114800" cy="521208"/>
          </a:xfrm>
          <a:prstGeom prst="rect">
            <a:avLst/>
          </a:prstGeom>
          <a:solidFill>
            <a:srgbClr val="FFF7ED"/>
          </a:solidFill>
          <a:ln w="12700">
            <a:solidFill>
              <a:srgbClr val="FED7AA"/>
            </a:solidFill>
            <a:prstDash val="solid"/>
          </a:ln>
        </p:spPr>
      </p:sp>
      <p:sp>
        <p:nvSpPr>
          <p:cNvPr id="43" name="Text 41"/>
          <p:cNvSpPr/>
          <p:nvPr/>
        </p:nvSpPr>
        <p:spPr>
          <a:xfrm>
            <a:off x="4754880" y="3959352"/>
            <a:ext cx="384048" cy="521208"/>
          </a:xfrm>
          <a:prstGeom prst="rect">
            <a:avLst/>
          </a:prstGeom>
          <a:noFill/>
          <a:ln/>
        </p:spPr>
        <p:txBody>
          <a:bodyPr wrap="square" rtlCol="0" anchor="ctr"/>
          <a:lstStyle/>
          <a:p>
            <a:pPr marL="0" indent="0" algn="ctr">
              <a:buNone/>
            </a:pPr>
            <a:r>
              <a:rPr lang="en-US" sz="1400" b="1" dirty="0">
                <a:solidFill>
                  <a:srgbClr val="D97706"/>
                </a:solidFill>
                <a:latin typeface="Trebuchet MS" pitchFamily="34" charset="0"/>
                <a:ea typeface="Trebuchet MS" pitchFamily="34" charset="-122"/>
                <a:cs typeface="Trebuchet MS" pitchFamily="34" charset="-120"/>
              </a:rPr>
              <a:t>!</a:t>
            </a:r>
            <a:endParaRPr lang="en-US" sz="1400" dirty="0"/>
          </a:p>
        </p:txBody>
      </p:sp>
      <p:sp>
        <p:nvSpPr>
          <p:cNvPr id="44" name="Text 42"/>
          <p:cNvSpPr/>
          <p:nvPr/>
        </p:nvSpPr>
        <p:spPr>
          <a:xfrm>
            <a:off x="5166360" y="3959352"/>
            <a:ext cx="3611880" cy="52120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Drug name inconsistencies required manual harmonization</a:t>
            </a:r>
            <a:endParaRPr lang="en-US" sz="1100" dirty="0"/>
          </a:p>
        </p:txBody>
      </p:sp>
      <p:sp>
        <p:nvSpPr>
          <p:cNvPr id="45" name="Shape 43"/>
          <p:cNvSpPr/>
          <p:nvPr/>
        </p:nvSpPr>
        <p:spPr>
          <a:xfrm>
            <a:off x="0" y="4983480"/>
            <a:ext cx="9144000" cy="164592"/>
          </a:xfrm>
          <a:prstGeom prst="rect">
            <a:avLst/>
          </a:prstGeom>
          <a:solidFill>
            <a:srgbClr val="0B2447"/>
          </a:solidFill>
          <a:ln w="12700">
            <a:solidFill>
              <a:srgbClr val="0B2447"/>
            </a:solidFill>
            <a:prstDash val="solid"/>
          </a:ln>
        </p:spPr>
      </p:sp>
      <p:sp>
        <p:nvSpPr>
          <p:cNvPr id="46" name="Text 44"/>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B0C4DE"/>
                </a:solidFill>
                <a:latin typeface="Calibri" pitchFamily="34" charset="0"/>
                <a:ea typeface="Calibri" pitchFamily="34" charset="-122"/>
                <a:cs typeface="Calibri" pitchFamily="34" charset="-120"/>
              </a:rPr>
              <a:t>DILI Safety Signal Analysis  |  FAERS 2025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44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96C7"/>
          </a:solidFill>
          <a:ln w="12700">
            <a:solidFill>
              <a:srgbClr val="0096C7"/>
            </a:solidFill>
            <a:prstDash val="solid"/>
          </a:ln>
        </p:spPr>
      </p:sp>
      <p:sp>
        <p:nvSpPr>
          <p:cNvPr id="3" name="Shape 1"/>
          <p:cNvSpPr/>
          <p:nvPr/>
        </p:nvSpPr>
        <p:spPr>
          <a:xfrm>
            <a:off x="0" y="0"/>
            <a:ext cx="109728" cy="5143500"/>
          </a:xfrm>
          <a:prstGeom prst="rect">
            <a:avLst/>
          </a:prstGeom>
          <a:solidFill>
            <a:srgbClr val="F4A261"/>
          </a:solidFill>
          <a:ln w="12700">
            <a:solidFill>
              <a:srgbClr val="F4A261"/>
            </a:solidFill>
            <a:prstDash val="solid"/>
          </a:ln>
        </p:spPr>
      </p:sp>
      <p:sp>
        <p:nvSpPr>
          <p:cNvPr id="4" name="Text 2"/>
          <p:cNvSpPr/>
          <p:nvPr/>
        </p:nvSpPr>
        <p:spPr>
          <a:xfrm>
            <a:off x="365760" y="182880"/>
            <a:ext cx="8229600" cy="594360"/>
          </a:xfrm>
          <a:prstGeom prst="rect">
            <a:avLst/>
          </a:prstGeom>
          <a:noFill/>
          <a:ln/>
        </p:spPr>
        <p:txBody>
          <a:bodyPr wrap="square"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Conclusion</a:t>
            </a:r>
            <a:endParaRPr lang="en-US" sz="3000" dirty="0"/>
          </a:p>
        </p:txBody>
      </p:sp>
      <p:sp>
        <p:nvSpPr>
          <p:cNvPr id="5" name="Shape 3"/>
          <p:cNvSpPr/>
          <p:nvPr/>
        </p:nvSpPr>
        <p:spPr>
          <a:xfrm>
            <a:off x="365760" y="868680"/>
            <a:ext cx="8412480" cy="1463040"/>
          </a:xfrm>
          <a:prstGeom prst="rect">
            <a:avLst/>
          </a:prstGeom>
          <a:solidFill>
            <a:srgbClr val="19376D"/>
          </a:solidFill>
          <a:ln w="19050">
            <a:solidFill>
              <a:srgbClr val="0096C7"/>
            </a:solidFill>
            <a:prstDash val="solid"/>
          </a:ln>
          <a:effectLst>
            <a:outerShdw blurRad="76200" dist="38100" dir="8100000" algn="bl" rotWithShape="0">
              <a:srgbClr val="000000">
                <a:alpha val="30000"/>
              </a:srgbClr>
            </a:outerShdw>
          </a:effectLst>
        </p:spPr>
      </p:sp>
      <p:sp>
        <p:nvSpPr>
          <p:cNvPr id="6" name="Text 4"/>
          <p:cNvSpPr/>
          <p:nvPr/>
        </p:nvSpPr>
        <p:spPr>
          <a:xfrm>
            <a:off x="548640" y="960120"/>
            <a:ext cx="8046720" cy="1280160"/>
          </a:xfrm>
          <a:prstGeom prst="rect">
            <a:avLst/>
          </a:prstGeom>
          <a:noFill/>
          <a:ln/>
        </p:spPr>
        <p:txBody>
          <a:bodyPr wrap="square" rtlCol="0" anchor="ctr"/>
          <a:lstStyle/>
          <a:p>
            <a:pPr marL="0" indent="0" algn="l">
              <a:buNone/>
            </a:pPr>
            <a:r>
              <a:rPr lang="en-US" sz="1300" dirty="0">
                <a:solidFill>
                  <a:srgbClr val="FFFFFF"/>
                </a:solidFill>
                <a:latin typeface="Calibri" pitchFamily="34" charset="0"/>
                <a:ea typeface="Calibri" pitchFamily="34" charset="-122"/>
                <a:cs typeface="Calibri" pitchFamily="34" charset="-120"/>
              </a:rPr>
              <a:t>This project successfully identified multiple potential DILI safety signals using ROR-based disproportionality analysis on 2025 FAERS data. Integration of signal strength with case volume enabled prioritization of meaningful clinical risks, while demographic analysis provided additional context. These findings can support pharmacovigilance teams in prioritizing further investigation.</a:t>
            </a:r>
            <a:endParaRPr lang="en-US" sz="1300" dirty="0"/>
          </a:p>
        </p:txBody>
      </p:sp>
      <p:sp>
        <p:nvSpPr>
          <p:cNvPr id="7" name="Text 5"/>
          <p:cNvSpPr/>
          <p:nvPr/>
        </p:nvSpPr>
        <p:spPr>
          <a:xfrm>
            <a:off x="365760" y="2423160"/>
            <a:ext cx="8229600" cy="411480"/>
          </a:xfrm>
          <a:prstGeom prst="rect">
            <a:avLst/>
          </a:prstGeom>
          <a:noFill/>
          <a:ln/>
        </p:spPr>
        <p:txBody>
          <a:bodyPr wrap="square" rtlCol="0" anchor="ctr"/>
          <a:lstStyle/>
          <a:p>
            <a:pPr marL="0" indent="0">
              <a:buNone/>
            </a:pPr>
            <a:r>
              <a:rPr lang="en-US" sz="1500" b="1" dirty="0">
                <a:solidFill>
                  <a:srgbClr val="F4A261"/>
                </a:solidFill>
                <a:latin typeface="Trebuchet MS" pitchFamily="34" charset="0"/>
                <a:ea typeface="Trebuchet MS" pitchFamily="34" charset="-122"/>
                <a:cs typeface="Trebuchet MS" pitchFamily="34" charset="-120"/>
              </a:rPr>
              <a:t>Practical Applications</a:t>
            </a:r>
            <a:endParaRPr lang="en-US" sz="1500" dirty="0"/>
          </a:p>
        </p:txBody>
      </p:sp>
      <p:sp>
        <p:nvSpPr>
          <p:cNvPr id="8" name="Shape 6"/>
          <p:cNvSpPr/>
          <p:nvPr/>
        </p:nvSpPr>
        <p:spPr>
          <a:xfrm>
            <a:off x="365760" y="2880360"/>
            <a:ext cx="1920240" cy="1874520"/>
          </a:xfrm>
          <a:prstGeom prst="rect">
            <a:avLst/>
          </a:prstGeom>
          <a:solidFill>
            <a:srgbClr val="19376D"/>
          </a:solidFill>
          <a:ln w="12700">
            <a:solidFill>
              <a:srgbClr val="0096C7"/>
            </a:solidFill>
            <a:prstDash val="solid"/>
          </a:ln>
          <a:effectLst>
            <a:outerShdw blurRad="63500" dist="25400" dir="8100000" algn="bl" rotWithShape="0">
              <a:srgbClr val="000000">
                <a:alpha val="25000"/>
              </a:srgbClr>
            </a:outerShdw>
          </a:effectLst>
        </p:spPr>
      </p:sp>
      <p:sp>
        <p:nvSpPr>
          <p:cNvPr id="9" name="Text 7"/>
          <p:cNvSpPr/>
          <p:nvPr/>
        </p:nvSpPr>
        <p:spPr>
          <a:xfrm>
            <a:off x="365760" y="2926080"/>
            <a:ext cx="192024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65760" y="3429000"/>
            <a:ext cx="1920240" cy="41148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Drug Safety Monitoring</a:t>
            </a:r>
            <a:endParaRPr lang="en-US" sz="1100" dirty="0"/>
          </a:p>
        </p:txBody>
      </p:sp>
      <p:sp>
        <p:nvSpPr>
          <p:cNvPr id="11" name="Text 9"/>
          <p:cNvSpPr/>
          <p:nvPr/>
        </p:nvSpPr>
        <p:spPr>
          <a:xfrm>
            <a:off x="411480" y="3840480"/>
            <a:ext cx="1828800" cy="68580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Continuous surveillance of post-market adverse events</a:t>
            </a:r>
            <a:endParaRPr lang="en-US" sz="1000" dirty="0"/>
          </a:p>
        </p:txBody>
      </p:sp>
      <p:sp>
        <p:nvSpPr>
          <p:cNvPr id="12" name="Shape 10"/>
          <p:cNvSpPr/>
          <p:nvPr/>
        </p:nvSpPr>
        <p:spPr>
          <a:xfrm>
            <a:off x="2514600" y="2880360"/>
            <a:ext cx="1920240" cy="1874520"/>
          </a:xfrm>
          <a:prstGeom prst="rect">
            <a:avLst/>
          </a:prstGeom>
          <a:solidFill>
            <a:srgbClr val="19376D"/>
          </a:solidFill>
          <a:ln w="12700">
            <a:solidFill>
              <a:srgbClr val="0096C7"/>
            </a:solidFill>
            <a:prstDash val="solid"/>
          </a:ln>
          <a:effectLst>
            <a:outerShdw blurRad="63500" dist="25400" dir="8100000" algn="bl" rotWithShape="0">
              <a:srgbClr val="000000">
                <a:alpha val="25000"/>
              </a:srgbClr>
            </a:outerShdw>
          </a:effectLst>
        </p:spPr>
      </p:sp>
      <p:sp>
        <p:nvSpPr>
          <p:cNvPr id="13" name="Text 11"/>
          <p:cNvSpPr/>
          <p:nvPr/>
        </p:nvSpPr>
        <p:spPr>
          <a:xfrm>
            <a:off x="2514600" y="2926080"/>
            <a:ext cx="192024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2514600" y="3429000"/>
            <a:ext cx="1920240" cy="41148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Signal Detection Workflows</a:t>
            </a:r>
            <a:endParaRPr lang="en-US" sz="1100" dirty="0"/>
          </a:p>
        </p:txBody>
      </p:sp>
      <p:sp>
        <p:nvSpPr>
          <p:cNvPr id="15" name="Text 13"/>
          <p:cNvSpPr/>
          <p:nvPr/>
        </p:nvSpPr>
        <p:spPr>
          <a:xfrm>
            <a:off x="2560320" y="3840480"/>
            <a:ext cx="1828800" cy="68580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Automated ROR pipeline for new drug classes</a:t>
            </a:r>
            <a:endParaRPr lang="en-US" sz="1000" dirty="0"/>
          </a:p>
        </p:txBody>
      </p:sp>
      <p:sp>
        <p:nvSpPr>
          <p:cNvPr id="16" name="Shape 14"/>
          <p:cNvSpPr/>
          <p:nvPr/>
        </p:nvSpPr>
        <p:spPr>
          <a:xfrm>
            <a:off x="4663440" y="2880360"/>
            <a:ext cx="1920240" cy="1874520"/>
          </a:xfrm>
          <a:prstGeom prst="rect">
            <a:avLst/>
          </a:prstGeom>
          <a:solidFill>
            <a:srgbClr val="19376D"/>
          </a:solidFill>
          <a:ln w="12700">
            <a:solidFill>
              <a:srgbClr val="0096C7"/>
            </a:solidFill>
            <a:prstDash val="solid"/>
          </a:ln>
          <a:effectLst>
            <a:outerShdw blurRad="63500" dist="25400" dir="8100000" algn="bl" rotWithShape="0">
              <a:srgbClr val="000000">
                <a:alpha val="25000"/>
              </a:srgbClr>
            </a:outerShdw>
          </a:effectLst>
        </p:spPr>
      </p:sp>
      <p:sp>
        <p:nvSpPr>
          <p:cNvPr id="17" name="Text 15"/>
          <p:cNvSpPr/>
          <p:nvPr/>
        </p:nvSpPr>
        <p:spPr>
          <a:xfrm>
            <a:off x="4663440" y="2926080"/>
            <a:ext cx="192024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4663440" y="3429000"/>
            <a:ext cx="1920240" cy="41148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Risk Prioritization</a:t>
            </a:r>
            <a:endParaRPr lang="en-US" sz="1100" dirty="0"/>
          </a:p>
        </p:txBody>
      </p:sp>
      <p:sp>
        <p:nvSpPr>
          <p:cNvPr id="19" name="Text 17"/>
          <p:cNvSpPr/>
          <p:nvPr/>
        </p:nvSpPr>
        <p:spPr>
          <a:xfrm>
            <a:off x="4709160" y="3840480"/>
            <a:ext cx="1828800" cy="68580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Focus resources on high-ROR, high-volume drugs</a:t>
            </a:r>
            <a:endParaRPr lang="en-US" sz="1000" dirty="0"/>
          </a:p>
        </p:txBody>
      </p:sp>
      <p:sp>
        <p:nvSpPr>
          <p:cNvPr id="20" name="Shape 18"/>
          <p:cNvSpPr/>
          <p:nvPr/>
        </p:nvSpPr>
        <p:spPr>
          <a:xfrm>
            <a:off x="6812280" y="2880360"/>
            <a:ext cx="1920240" cy="1874520"/>
          </a:xfrm>
          <a:prstGeom prst="rect">
            <a:avLst/>
          </a:prstGeom>
          <a:solidFill>
            <a:srgbClr val="19376D"/>
          </a:solidFill>
          <a:ln w="12700">
            <a:solidFill>
              <a:srgbClr val="0096C7"/>
            </a:solidFill>
            <a:prstDash val="solid"/>
          </a:ln>
          <a:effectLst>
            <a:outerShdw blurRad="63500" dist="25400" dir="8100000" algn="bl" rotWithShape="0">
              <a:srgbClr val="000000">
                <a:alpha val="25000"/>
              </a:srgbClr>
            </a:outerShdw>
          </a:effectLst>
        </p:spPr>
      </p:sp>
      <p:sp>
        <p:nvSpPr>
          <p:cNvPr id="21" name="Text 19"/>
          <p:cNvSpPr/>
          <p:nvPr/>
        </p:nvSpPr>
        <p:spPr>
          <a:xfrm>
            <a:off x="6812280" y="2926080"/>
            <a:ext cx="1920240" cy="5029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6812280" y="3429000"/>
            <a:ext cx="1920240" cy="411480"/>
          </a:xfrm>
          <a:prstGeom prst="rect">
            <a:avLst/>
          </a:prstGeom>
          <a:noFill/>
          <a:ln/>
        </p:spPr>
        <p:txBody>
          <a:bodyPr wrap="square" rtlCol="0" anchor="ctr"/>
          <a:lstStyle/>
          <a:p>
            <a:pPr marL="0" indent="0" algn="ctr">
              <a:buNone/>
            </a:pPr>
            <a:r>
              <a:rPr lang="en-US" sz="1100" b="1" dirty="0">
                <a:solidFill>
                  <a:srgbClr val="F4A261"/>
                </a:solidFill>
                <a:latin typeface="Trebuchet MS" pitchFamily="34" charset="0"/>
                <a:ea typeface="Trebuchet MS" pitchFamily="34" charset="-122"/>
                <a:cs typeface="Trebuchet MS" pitchFamily="34" charset="-120"/>
              </a:rPr>
              <a:t>Regulatory Support</a:t>
            </a:r>
            <a:endParaRPr lang="en-US" sz="1100" dirty="0"/>
          </a:p>
        </p:txBody>
      </p:sp>
      <p:sp>
        <p:nvSpPr>
          <p:cNvPr id="23" name="Text 21"/>
          <p:cNvSpPr/>
          <p:nvPr/>
        </p:nvSpPr>
        <p:spPr>
          <a:xfrm>
            <a:off x="6858000" y="3840480"/>
            <a:ext cx="1828800" cy="68580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Data-backed submissions for safety reviews</a:t>
            </a:r>
            <a:endParaRPr lang="en-US" sz="1000" dirty="0"/>
          </a:p>
        </p:txBody>
      </p:sp>
      <p:sp>
        <p:nvSpPr>
          <p:cNvPr id="24" name="Shape 22"/>
          <p:cNvSpPr/>
          <p:nvPr/>
        </p:nvSpPr>
        <p:spPr>
          <a:xfrm>
            <a:off x="0" y="4983480"/>
            <a:ext cx="9144000" cy="164592"/>
          </a:xfrm>
          <a:prstGeom prst="rect">
            <a:avLst/>
          </a:prstGeom>
          <a:solidFill>
            <a:srgbClr val="0096C7"/>
          </a:solidFill>
          <a:ln w="12700">
            <a:solidFill>
              <a:srgbClr val="0096C7"/>
            </a:solidFill>
            <a:prstDash val="solid"/>
          </a:ln>
        </p:spPr>
      </p:sp>
      <p:sp>
        <p:nvSpPr>
          <p:cNvPr id="25" name="Text 23"/>
          <p:cNvSpPr/>
          <p:nvPr/>
        </p:nvSpPr>
        <p:spPr>
          <a:xfrm>
            <a:off x="274320" y="4974336"/>
            <a:ext cx="8595360" cy="18288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FAERS Pharmacovigilance Signal Analysis  ·  2025  ·  Pharmacovigilance Department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725</Words>
  <Application>Microsoft Office PowerPoint</Application>
  <PresentationFormat>On-screen Show (16:9)</PresentationFormat>
  <Paragraphs>159</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DILI Signal Detection – FAERS 2025</dc:title>
  <dc:subject>PptxGenJS Presentation</dc:subject>
  <dc:creator>Pharmacovigilance Team</dc:creator>
  <cp:lastModifiedBy>Vaishnavi</cp:lastModifiedBy>
  <cp:revision>1</cp:revision>
  <dcterms:created xsi:type="dcterms:W3CDTF">2026-04-21T04:52:43Z</dcterms:created>
  <dcterms:modified xsi:type="dcterms:W3CDTF">2026-04-21T04:55:16Z</dcterms:modified>
</cp:coreProperties>
</file>